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Helvetica World" panose="020B0604020202020204" charset="-128"/>
      <p:regular r:id="rId28"/>
    </p:embeddedFont>
    <p:embeddedFont>
      <p:font typeface="Helvetica World Bold" panose="020B0604020202020204" charset="-128"/>
      <p:regular r:id="rId29"/>
    </p:embeddedFont>
    <p:embeddedFont>
      <p:font typeface="Knockout Featherweight Bold" panose="020B0604020202020204" charset="0"/>
      <p:regular r:id="rId30"/>
    </p:embeddedFont>
    <p:embeddedFont>
      <p:font typeface="Poppins" panose="00000500000000000000" pitchFamily="2" charset="0"/>
      <p:regular r:id="rId31"/>
    </p:embeddedFont>
    <p:embeddedFont>
      <p:font typeface="Poppins Bold" panose="00000800000000000000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3.jpeg"/><Relationship Id="rId7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0.jpeg"/><Relationship Id="rId7" Type="http://schemas.openxmlformats.org/officeDocument/2006/relationships/image" Target="../media/image5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10.sv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21.jpe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6.jpeg"/><Relationship Id="rId7" Type="http://schemas.openxmlformats.org/officeDocument/2006/relationships/image" Target="../media/image5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7.jpe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6.jpeg"/><Relationship Id="rId7" Type="http://schemas.openxmlformats.org/officeDocument/2006/relationships/image" Target="../media/image5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37.jpeg"/><Relationship Id="rId9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sv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756" y="1387252"/>
            <a:ext cx="4001292" cy="2638223"/>
          </a:xfrm>
          <a:custGeom>
            <a:avLst/>
            <a:gdLst/>
            <a:ahLst/>
            <a:cxnLst/>
            <a:rect l="l" t="t" r="r" b="b"/>
            <a:pathLst>
              <a:path w="4001292" h="2638223">
                <a:moveTo>
                  <a:pt x="0" y="0"/>
                </a:moveTo>
                <a:lnTo>
                  <a:pt x="4001292" y="0"/>
                </a:lnTo>
                <a:lnTo>
                  <a:pt x="4001292" y="2638223"/>
                </a:lnTo>
                <a:lnTo>
                  <a:pt x="0" y="2638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169" b="-53423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5333726" y="4025475"/>
            <a:ext cx="11072970" cy="6261525"/>
          </a:xfrm>
          <a:custGeom>
            <a:avLst/>
            <a:gdLst/>
            <a:ahLst/>
            <a:cxnLst/>
            <a:rect l="l" t="t" r="r" b="b"/>
            <a:pathLst>
              <a:path w="11072970" h="6261525">
                <a:moveTo>
                  <a:pt x="0" y="0"/>
                </a:moveTo>
                <a:lnTo>
                  <a:pt x="11072970" y="0"/>
                </a:lnTo>
                <a:lnTo>
                  <a:pt x="11072970" y="6261525"/>
                </a:lnTo>
                <a:lnTo>
                  <a:pt x="0" y="6261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t="-7325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28756" y="4346405"/>
            <a:ext cx="10244974" cy="4048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505"/>
              </a:lnSpc>
            </a:pPr>
            <a:r>
              <a:rPr lang="en-US" sz="15985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CAMPUS CONNECT PROGRAM</a:t>
            </a:r>
          </a:p>
        </p:txBody>
      </p:sp>
      <p:sp>
        <p:nvSpPr>
          <p:cNvPr id="5" name="Freeform 5"/>
          <p:cNvSpPr/>
          <p:nvPr/>
        </p:nvSpPr>
        <p:spPr>
          <a:xfrm rot="9083446">
            <a:off x="12288722" y="-670334"/>
            <a:ext cx="7107285" cy="7081597"/>
          </a:xfrm>
          <a:custGeom>
            <a:avLst/>
            <a:gdLst/>
            <a:ahLst/>
            <a:cxnLst/>
            <a:rect l="l" t="t" r="r" b="b"/>
            <a:pathLst>
              <a:path w="7107285" h="7081597">
                <a:moveTo>
                  <a:pt x="0" y="0"/>
                </a:moveTo>
                <a:lnTo>
                  <a:pt x="7107285" y="0"/>
                </a:lnTo>
                <a:lnTo>
                  <a:pt x="7107285" y="7081597"/>
                </a:lnTo>
                <a:lnTo>
                  <a:pt x="0" y="7081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1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17588" y="-607160"/>
            <a:ext cx="9629639" cy="11774123"/>
            <a:chOff x="0" y="0"/>
            <a:chExt cx="12839518" cy="15698831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839518" cy="7849415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7849415"/>
              <a:ext cx="12839518" cy="7849415"/>
            </a:xfrm>
            <a:prstGeom prst="rect">
              <a:avLst/>
            </a:prstGeom>
            <a:solidFill>
              <a:srgbClr val="F6C42C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93200" y="-846222"/>
            <a:ext cx="4559499" cy="7401557"/>
            <a:chOff x="0" y="0"/>
            <a:chExt cx="812800" cy="1319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319440"/>
            </a:xfrm>
            <a:custGeom>
              <a:avLst/>
              <a:gdLst/>
              <a:ahLst/>
              <a:cxnLst/>
              <a:rect l="l" t="t" r="r" b="b"/>
              <a:pathLst>
                <a:path w="812800" h="1319440">
                  <a:moveTo>
                    <a:pt x="0" y="0"/>
                  </a:moveTo>
                  <a:lnTo>
                    <a:pt x="812800" y="0"/>
                  </a:lnTo>
                  <a:lnTo>
                    <a:pt x="812800" y="1319440"/>
                  </a:lnTo>
                  <a:lnTo>
                    <a:pt x="0" y="1319440"/>
                  </a:lnTo>
                  <a:close/>
                </a:path>
              </a:pathLst>
            </a:custGeom>
            <a:blipFill>
              <a:blip r:embed="rId2"/>
              <a:stretch>
                <a:fillRect l="-4685" r="-46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955648" y="4607295"/>
            <a:ext cx="4332352" cy="5679705"/>
            <a:chOff x="0" y="0"/>
            <a:chExt cx="772308" cy="1012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2308" cy="1012494"/>
            </a:xfrm>
            <a:custGeom>
              <a:avLst/>
              <a:gdLst/>
              <a:ahLst/>
              <a:cxnLst/>
              <a:rect l="l" t="t" r="r" b="b"/>
              <a:pathLst>
                <a:path w="772308" h="1012494">
                  <a:moveTo>
                    <a:pt x="0" y="0"/>
                  </a:moveTo>
                  <a:lnTo>
                    <a:pt x="772308" y="0"/>
                  </a:lnTo>
                  <a:lnTo>
                    <a:pt x="772308" y="1012494"/>
                  </a:lnTo>
                  <a:lnTo>
                    <a:pt x="0" y="1012494"/>
                  </a:lnTo>
                  <a:close/>
                </a:path>
              </a:pathLst>
            </a:custGeom>
            <a:blipFill>
              <a:blip r:embed="rId3"/>
              <a:stretch>
                <a:fillRect l="-7355" t="-12494" r="-4458" b="-1409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8671313" y="5143500"/>
            <a:ext cx="3890412" cy="3890412"/>
          </a:xfrm>
          <a:custGeom>
            <a:avLst/>
            <a:gdLst/>
            <a:ahLst/>
            <a:cxnLst/>
            <a:rect l="l" t="t" r="r" b="b"/>
            <a:pathLst>
              <a:path w="3890412" h="3890412">
                <a:moveTo>
                  <a:pt x="0" y="0"/>
                </a:moveTo>
                <a:lnTo>
                  <a:pt x="3890412" y="0"/>
                </a:lnTo>
                <a:lnTo>
                  <a:pt x="3890412" y="3890412"/>
                </a:lnTo>
                <a:lnTo>
                  <a:pt x="0" y="3890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3117280"/>
            <a:ext cx="8115300" cy="142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55"/>
              </a:lnSpc>
            </a:pPr>
            <a:r>
              <a:rPr lang="en-US" sz="12263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CAMPUS CONNECT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169" b="-5342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765852"/>
            <a:ext cx="8115300" cy="318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</a:pPr>
            <a:r>
              <a: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India’s Largest Youth Engagement Initiative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500+ Colleges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10 Elite Ambassadors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Pan India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0053" y="-385140"/>
            <a:ext cx="7619691" cy="11353831"/>
            <a:chOff x="0" y="0"/>
            <a:chExt cx="10159588" cy="151384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5" r="195"/>
            <a:stretch>
              <a:fillRect/>
            </a:stretch>
          </p:blipFill>
          <p:spPr>
            <a:xfrm>
              <a:off x="0" y="0"/>
              <a:ext cx="10159588" cy="1513844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2344591" y="4488724"/>
            <a:ext cx="5030751" cy="4678599"/>
          </a:xfrm>
          <a:custGeom>
            <a:avLst/>
            <a:gdLst/>
            <a:ahLst/>
            <a:cxnLst/>
            <a:rect l="l" t="t" r="r" b="b"/>
            <a:pathLst>
              <a:path w="5030751" h="4678599">
                <a:moveTo>
                  <a:pt x="0" y="0"/>
                </a:moveTo>
                <a:lnTo>
                  <a:pt x="5030751" y="0"/>
                </a:lnTo>
                <a:lnTo>
                  <a:pt x="5030751" y="4678599"/>
                </a:lnTo>
                <a:lnTo>
                  <a:pt x="0" y="4678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169" b="-5342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889438"/>
            <a:ext cx="8115300" cy="141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681"/>
              </a:lnSpc>
            </a:pPr>
            <a:r>
              <a:rPr lang="en-US" sz="10681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ABOUT PRIME ENGAGE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669655"/>
            <a:ext cx="8699135" cy="3710432"/>
            <a:chOff x="0" y="0"/>
            <a:chExt cx="11598846" cy="4947243"/>
          </a:xfrm>
        </p:grpSpPr>
        <p:sp>
          <p:nvSpPr>
            <p:cNvPr id="11" name="TextBox 11"/>
            <p:cNvSpPr txBox="1"/>
            <p:nvPr/>
          </p:nvSpPr>
          <p:spPr>
            <a:xfrm>
              <a:off x="627657" y="-66675"/>
              <a:ext cx="10971190" cy="5013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47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Youth-focused event &amp; engagement company </a:t>
              </a:r>
            </a:p>
            <a:p>
              <a:pPr marL="0" lvl="0" indent="0" algn="l">
                <a:lnSpc>
                  <a:spcPts val="4147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Organizers of: </a:t>
              </a:r>
            </a:p>
            <a:p>
              <a:pPr marL="626111" lvl="1" indent="-313055" algn="l">
                <a:lnSpc>
                  <a:spcPts val="4147"/>
                </a:lnSpc>
                <a:buFont typeface="Arial"/>
                <a:buChar char="•"/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National Chess Championships </a:t>
              </a:r>
            </a:p>
            <a:p>
              <a:pPr marL="626111" lvl="1" indent="-313055" algn="l">
                <a:lnSpc>
                  <a:spcPts val="4147"/>
                </a:lnSpc>
                <a:buFont typeface="Arial"/>
                <a:buChar char="•"/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Esports Tournaments (BGMI &amp; more) </a:t>
              </a:r>
            </a:p>
            <a:p>
              <a:pPr marL="0" lvl="0" indent="0" algn="l">
                <a:lnSpc>
                  <a:spcPts val="4147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Expertise in </a:t>
              </a:r>
              <a:r>
                <a:rPr lang="en-US" sz="29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large-scale, multi-city events </a:t>
              </a:r>
            </a:p>
            <a:p>
              <a:pPr marL="0" lvl="0" indent="0" algn="l">
                <a:lnSpc>
                  <a:spcPts val="4147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Strong focus </a:t>
              </a:r>
              <a:r>
                <a:rPr lang="en-US" sz="29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on community building &amp; youth culture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67007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79"/>
                  </a:lnTo>
                  <a:lnTo>
                    <a:pt x="0" y="430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761157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2890526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79"/>
                  </a:lnTo>
                  <a:lnTo>
                    <a:pt x="0" y="430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3625805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46399" y="0"/>
            <a:ext cx="6941601" cy="10287000"/>
            <a:chOff x="0" y="0"/>
            <a:chExt cx="18282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241" cy="2709333"/>
            </a:xfrm>
            <a:custGeom>
              <a:avLst/>
              <a:gdLst/>
              <a:ahLst/>
              <a:cxnLst/>
              <a:rect l="l" t="t" r="r" b="b"/>
              <a:pathLst>
                <a:path w="1828241" h="2709333">
                  <a:moveTo>
                    <a:pt x="0" y="0"/>
                  </a:moveTo>
                  <a:lnTo>
                    <a:pt x="1828241" y="0"/>
                  </a:lnTo>
                  <a:lnTo>
                    <a:pt x="18282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828241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84978" y="3111435"/>
            <a:ext cx="7603022" cy="7659183"/>
            <a:chOff x="0" y="0"/>
            <a:chExt cx="2002442" cy="2017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02442" cy="2017233"/>
            </a:xfrm>
            <a:custGeom>
              <a:avLst/>
              <a:gdLst/>
              <a:ahLst/>
              <a:cxnLst/>
              <a:rect l="l" t="t" r="r" b="b"/>
              <a:pathLst>
                <a:path w="2002442" h="2017233">
                  <a:moveTo>
                    <a:pt x="51932" y="0"/>
                  </a:moveTo>
                  <a:lnTo>
                    <a:pt x="1950510" y="0"/>
                  </a:lnTo>
                  <a:cubicBezTo>
                    <a:pt x="1979192" y="0"/>
                    <a:pt x="2002442" y="23251"/>
                    <a:pt x="2002442" y="51932"/>
                  </a:cubicBezTo>
                  <a:lnTo>
                    <a:pt x="2002442" y="1965302"/>
                  </a:lnTo>
                  <a:cubicBezTo>
                    <a:pt x="2002442" y="1993983"/>
                    <a:pt x="1979192" y="2017233"/>
                    <a:pt x="1950510" y="2017233"/>
                  </a:cubicBezTo>
                  <a:lnTo>
                    <a:pt x="51932" y="2017233"/>
                  </a:lnTo>
                  <a:cubicBezTo>
                    <a:pt x="38159" y="2017233"/>
                    <a:pt x="24950" y="2011762"/>
                    <a:pt x="15210" y="2002023"/>
                  </a:cubicBezTo>
                  <a:cubicBezTo>
                    <a:pt x="5471" y="1992284"/>
                    <a:pt x="0" y="1979075"/>
                    <a:pt x="0" y="1965302"/>
                  </a:cubicBezTo>
                  <a:lnTo>
                    <a:pt x="0" y="51932"/>
                  </a:lnTo>
                  <a:cubicBezTo>
                    <a:pt x="0" y="38159"/>
                    <a:pt x="5471" y="24950"/>
                    <a:pt x="15210" y="15210"/>
                  </a:cubicBezTo>
                  <a:cubicBezTo>
                    <a:pt x="24950" y="5471"/>
                    <a:pt x="38159" y="0"/>
                    <a:pt x="51932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02442" cy="2017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27469" y="2046976"/>
            <a:ext cx="6461372" cy="64613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7558" y="0"/>
                  </a:moveTo>
                  <a:lnTo>
                    <a:pt x="785242" y="0"/>
                  </a:lnTo>
                  <a:cubicBezTo>
                    <a:pt x="800462" y="0"/>
                    <a:pt x="812800" y="12338"/>
                    <a:pt x="812800" y="27558"/>
                  </a:cubicBezTo>
                  <a:lnTo>
                    <a:pt x="812800" y="785242"/>
                  </a:lnTo>
                  <a:cubicBezTo>
                    <a:pt x="812800" y="800462"/>
                    <a:pt x="800462" y="812800"/>
                    <a:pt x="785242" y="812800"/>
                  </a:cubicBezTo>
                  <a:lnTo>
                    <a:pt x="27558" y="812800"/>
                  </a:lnTo>
                  <a:cubicBezTo>
                    <a:pt x="12338" y="812800"/>
                    <a:pt x="0" y="800462"/>
                    <a:pt x="0" y="785242"/>
                  </a:cubicBezTo>
                  <a:lnTo>
                    <a:pt x="0" y="27558"/>
                  </a:lnTo>
                  <a:cubicBezTo>
                    <a:pt x="0" y="12338"/>
                    <a:pt x="12338" y="0"/>
                    <a:pt x="27558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225592" y="6345055"/>
            <a:ext cx="3120807" cy="3120807"/>
          </a:xfrm>
          <a:custGeom>
            <a:avLst/>
            <a:gdLst/>
            <a:ahLst/>
            <a:cxnLst/>
            <a:rect l="l" t="t" r="r" b="b"/>
            <a:pathLst>
              <a:path w="3120807" h="3120807">
                <a:moveTo>
                  <a:pt x="0" y="0"/>
                </a:moveTo>
                <a:lnTo>
                  <a:pt x="3120807" y="0"/>
                </a:lnTo>
                <a:lnTo>
                  <a:pt x="3120807" y="3120808"/>
                </a:lnTo>
                <a:lnTo>
                  <a:pt x="0" y="3120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3091172"/>
            <a:ext cx="914419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</a:pPr>
            <a:r>
              <a:rPr lang="en-US" sz="12000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PROGRAM VISION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002284"/>
            <a:ext cx="8284986" cy="2628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build a </a:t>
            </a:r>
            <a:r>
              <a:rPr lang="en-US" sz="28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nationwide network of student leaders</a:t>
            </a:r>
            <a:r>
              <a:rPr lang="en-US" sz="2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who drive: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Campus engagement 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 participation 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Youth-led communities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8332" y="0"/>
            <a:ext cx="10264068" cy="10287000"/>
            <a:chOff x="0" y="0"/>
            <a:chExt cx="13685424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4572000"/>
              <a:ext cx="13685424" cy="4572000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914400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81240" y="829223"/>
            <a:ext cx="1908505" cy="190850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681240" y="4189248"/>
            <a:ext cx="1908505" cy="19085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81240" y="7726905"/>
            <a:ext cx="1908505" cy="19085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070484" y="8841570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84662" y="-4620207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2787382"/>
            <a:ext cx="7642613" cy="292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45"/>
              </a:lnSpc>
            </a:pPr>
            <a:r>
              <a:rPr lang="en-US" sz="11245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PROGRAM OBJECTIVE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815631"/>
            <a:ext cx="6658369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Establish presence in 500+ colleges 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Drive participation in national events 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Identify top student leaders &amp; creators 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long-term campus partnerships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6503" y="1485660"/>
            <a:ext cx="4875048" cy="5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en-US" sz="2800" b="1" spc="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500+ COLLEGES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6503" y="4877556"/>
            <a:ext cx="4875048" cy="5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en-US" sz="2800" b="1" spc="12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 STUDENT LEADERS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46503" y="8269452"/>
            <a:ext cx="5743041" cy="5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en-US" sz="2800" b="1" spc="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LONG TERM PARTNERSHIPS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3853" y="5828246"/>
            <a:ext cx="10719999" cy="12035597"/>
            <a:chOff x="0" y="0"/>
            <a:chExt cx="2823374" cy="31698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23374" cy="3169869"/>
            </a:xfrm>
            <a:custGeom>
              <a:avLst/>
              <a:gdLst/>
              <a:ahLst/>
              <a:cxnLst/>
              <a:rect l="l" t="t" r="r" b="b"/>
              <a:pathLst>
                <a:path w="2823374" h="3169869">
                  <a:moveTo>
                    <a:pt x="36832" y="0"/>
                  </a:moveTo>
                  <a:lnTo>
                    <a:pt x="2786542" y="0"/>
                  </a:lnTo>
                  <a:cubicBezTo>
                    <a:pt x="2796311" y="0"/>
                    <a:pt x="2805679" y="3880"/>
                    <a:pt x="2812586" y="10788"/>
                  </a:cubicBezTo>
                  <a:cubicBezTo>
                    <a:pt x="2819494" y="17695"/>
                    <a:pt x="2823374" y="27063"/>
                    <a:pt x="2823374" y="36832"/>
                  </a:cubicBezTo>
                  <a:lnTo>
                    <a:pt x="2823374" y="3133037"/>
                  </a:lnTo>
                  <a:cubicBezTo>
                    <a:pt x="2823374" y="3142806"/>
                    <a:pt x="2819494" y="3152174"/>
                    <a:pt x="2812586" y="3159082"/>
                  </a:cubicBezTo>
                  <a:cubicBezTo>
                    <a:pt x="2805679" y="3165989"/>
                    <a:pt x="2796311" y="3169869"/>
                    <a:pt x="2786542" y="3169869"/>
                  </a:cubicBezTo>
                  <a:lnTo>
                    <a:pt x="36832" y="3169869"/>
                  </a:lnTo>
                  <a:cubicBezTo>
                    <a:pt x="27063" y="3169869"/>
                    <a:pt x="17695" y="3165989"/>
                    <a:pt x="10788" y="3159082"/>
                  </a:cubicBezTo>
                  <a:cubicBezTo>
                    <a:pt x="3880" y="3152174"/>
                    <a:pt x="0" y="3142806"/>
                    <a:pt x="0" y="3133037"/>
                  </a:cubicBezTo>
                  <a:lnTo>
                    <a:pt x="0" y="36832"/>
                  </a:lnTo>
                  <a:cubicBezTo>
                    <a:pt x="0" y="27063"/>
                    <a:pt x="3880" y="17695"/>
                    <a:pt x="10788" y="10788"/>
                  </a:cubicBezTo>
                  <a:cubicBezTo>
                    <a:pt x="17695" y="3880"/>
                    <a:pt x="27063" y="0"/>
                    <a:pt x="36832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823374" cy="3169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16828" y="-463363"/>
            <a:ext cx="9596395" cy="11777509"/>
            <a:chOff x="0" y="0"/>
            <a:chExt cx="2527445" cy="31018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7446" cy="3101895"/>
            </a:xfrm>
            <a:custGeom>
              <a:avLst/>
              <a:gdLst/>
              <a:ahLst/>
              <a:cxnLst/>
              <a:rect l="l" t="t" r="r" b="b"/>
              <a:pathLst>
                <a:path w="2527446" h="3101895">
                  <a:moveTo>
                    <a:pt x="41144" y="0"/>
                  </a:moveTo>
                  <a:lnTo>
                    <a:pt x="2486301" y="0"/>
                  </a:lnTo>
                  <a:cubicBezTo>
                    <a:pt x="2497213" y="0"/>
                    <a:pt x="2507679" y="4335"/>
                    <a:pt x="2515395" y="12051"/>
                  </a:cubicBezTo>
                  <a:cubicBezTo>
                    <a:pt x="2523111" y="19767"/>
                    <a:pt x="2527446" y="30232"/>
                    <a:pt x="2527446" y="41144"/>
                  </a:cubicBezTo>
                  <a:lnTo>
                    <a:pt x="2527446" y="3060751"/>
                  </a:lnTo>
                  <a:cubicBezTo>
                    <a:pt x="2527446" y="3071663"/>
                    <a:pt x="2523111" y="3082128"/>
                    <a:pt x="2515395" y="3089844"/>
                  </a:cubicBezTo>
                  <a:cubicBezTo>
                    <a:pt x="2507679" y="3097560"/>
                    <a:pt x="2497213" y="3101895"/>
                    <a:pt x="2486301" y="3101895"/>
                  </a:cubicBezTo>
                  <a:lnTo>
                    <a:pt x="41144" y="3101895"/>
                  </a:lnTo>
                  <a:cubicBezTo>
                    <a:pt x="30232" y="3101895"/>
                    <a:pt x="19767" y="3097560"/>
                    <a:pt x="12051" y="3089844"/>
                  </a:cubicBezTo>
                  <a:cubicBezTo>
                    <a:pt x="4335" y="3082128"/>
                    <a:pt x="0" y="3071663"/>
                    <a:pt x="0" y="3060751"/>
                  </a:cubicBezTo>
                  <a:lnTo>
                    <a:pt x="0" y="41144"/>
                  </a:lnTo>
                  <a:cubicBezTo>
                    <a:pt x="0" y="30232"/>
                    <a:pt x="4335" y="19767"/>
                    <a:pt x="12051" y="12051"/>
                  </a:cubicBezTo>
                  <a:cubicBezTo>
                    <a:pt x="19767" y="4335"/>
                    <a:pt x="30232" y="0"/>
                    <a:pt x="41144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27445" cy="310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80523" y="855606"/>
            <a:ext cx="3289388" cy="3086100"/>
            <a:chOff x="0" y="0"/>
            <a:chExt cx="86634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969912" y="3606143"/>
            <a:ext cx="3289388" cy="3086100"/>
            <a:chOff x="0" y="0"/>
            <a:chExt cx="866341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80523" y="6345294"/>
            <a:ext cx="3289388" cy="3086100"/>
            <a:chOff x="0" y="0"/>
            <a:chExt cx="866341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649648" y="-2276457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4" y="0"/>
                </a:lnTo>
                <a:lnTo>
                  <a:pt x="5219304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196843" y="8841570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3" y="0"/>
                </a:lnTo>
                <a:lnTo>
                  <a:pt x="5219303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169" b="-53423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317649" y="3105869"/>
            <a:ext cx="1332000" cy="1332000"/>
          </a:xfrm>
          <a:custGeom>
            <a:avLst/>
            <a:gdLst/>
            <a:ahLst/>
            <a:cxnLst/>
            <a:rect l="l" t="t" r="r" b="b"/>
            <a:pathLst>
              <a:path w="1332000" h="1332000">
                <a:moveTo>
                  <a:pt x="0" y="0"/>
                </a:moveTo>
                <a:lnTo>
                  <a:pt x="1331999" y="0"/>
                </a:lnTo>
                <a:lnTo>
                  <a:pt x="1331999" y="1332000"/>
                </a:lnTo>
                <a:lnTo>
                  <a:pt x="0" y="133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2390307"/>
            <a:ext cx="7642613" cy="333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921"/>
              </a:lnSpc>
            </a:pPr>
            <a:r>
              <a:rPr lang="en-US" sz="12921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PROGRAM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6549150"/>
            <a:ext cx="6777794" cy="179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Nationwide ambassador program 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Selection of </a:t>
            </a:r>
            <a:r>
              <a:rPr lang="en-US" sz="29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Top 10 performers</a:t>
            </a: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marL="626111" lvl="1" indent="-313055" algn="l">
              <a:lnSpc>
                <a:spcPts val="348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Direct involvement in Prime Engage events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32499" y="2037882"/>
            <a:ext cx="2785436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</a:pPr>
            <a:r>
              <a:rPr lang="en-US" sz="3399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LEADERSHIP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73864" y="4781867"/>
            <a:ext cx="2281484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EXPOSURE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84475" y="7526711"/>
            <a:ext cx="2281484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59"/>
              </a:lnSpc>
            </a:pPr>
            <a:r>
              <a:rPr lang="en-US" sz="3399" b="1">
                <a:solidFill>
                  <a:srgbClr val="1B1D1B"/>
                </a:solidFill>
                <a:latin typeface="Poppins Bold"/>
                <a:ea typeface="Poppins Bold"/>
                <a:cs typeface="Poppins Bold"/>
                <a:sym typeface="Poppins Bold"/>
              </a:rPr>
              <a:t>EARNINGS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317649" y="5848033"/>
            <a:ext cx="1332000" cy="1332000"/>
          </a:xfrm>
          <a:custGeom>
            <a:avLst/>
            <a:gdLst/>
            <a:ahLst/>
            <a:cxnLst/>
            <a:rect l="l" t="t" r="r" b="b"/>
            <a:pathLst>
              <a:path w="1332000" h="1332000">
                <a:moveTo>
                  <a:pt x="0" y="0"/>
                </a:moveTo>
                <a:lnTo>
                  <a:pt x="1331999" y="0"/>
                </a:lnTo>
                <a:lnTo>
                  <a:pt x="1331999" y="1332000"/>
                </a:lnTo>
                <a:lnTo>
                  <a:pt x="0" y="133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8332" y="0"/>
            <a:ext cx="10264068" cy="10287000"/>
            <a:chOff x="0" y="0"/>
            <a:chExt cx="13685424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4572000"/>
              <a:ext cx="13685424" cy="4572000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914400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81240" y="741020"/>
            <a:ext cx="1908505" cy="190850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681240" y="4189248"/>
            <a:ext cx="1908505" cy="19085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81240" y="7726905"/>
            <a:ext cx="1908505" cy="19085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070484" y="8841570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84662" y="-4620207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2906700"/>
            <a:ext cx="7642613" cy="184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42"/>
              </a:lnSpc>
            </a:pPr>
            <a:r>
              <a:rPr lang="en-US" sz="13842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WHO CAN APPLY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169" b="-53423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075848" y="5287213"/>
            <a:ext cx="8068152" cy="2628900"/>
            <a:chOff x="0" y="0"/>
            <a:chExt cx="10757537" cy="3505200"/>
          </a:xfrm>
        </p:grpSpPr>
        <p:sp>
          <p:nvSpPr>
            <p:cNvPr id="20" name="TextBox 20"/>
            <p:cNvSpPr txBox="1"/>
            <p:nvPr/>
          </p:nvSpPr>
          <p:spPr>
            <a:xfrm>
              <a:off x="567387" y="0"/>
              <a:ext cx="10190150" cy="350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80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College students (any stream) </a:t>
              </a:r>
            </a:p>
            <a:p>
              <a:pPr marL="0" lvl="0" indent="0" algn="l">
                <a:lnSpc>
                  <a:spcPts val="3480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Passionate about: </a:t>
              </a:r>
            </a:p>
            <a:p>
              <a:pPr marL="626111" lvl="1" indent="-313055" algn="l">
                <a:lnSpc>
                  <a:spcPts val="3480"/>
                </a:lnSpc>
                <a:buFont typeface="Arial"/>
                <a:buChar char="•"/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Gaming </a:t>
              </a:r>
            </a:p>
            <a:p>
              <a:pPr marL="626111" lvl="1" indent="-313055" algn="l">
                <a:lnSpc>
                  <a:spcPts val="3480"/>
                </a:lnSpc>
                <a:buFont typeface="Arial"/>
                <a:buChar char="•"/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Events </a:t>
              </a:r>
            </a:p>
            <a:p>
              <a:pPr marL="626111" lvl="1" indent="-313055" algn="l">
                <a:lnSpc>
                  <a:spcPts val="3480"/>
                </a:lnSpc>
                <a:buFont typeface="Arial"/>
                <a:buChar char="•"/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Content creation </a:t>
              </a:r>
            </a:p>
            <a:p>
              <a:pPr marL="0" lvl="0" indent="0" algn="l">
                <a:lnSpc>
                  <a:spcPts val="3480"/>
                </a:lnSpc>
              </a:pPr>
              <a:r>
                <a:rPr lang="en-US" sz="29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Strong communication &amp; leadership skills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59789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641803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0" y="2962143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0246503" y="1306831"/>
            <a:ext cx="49235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spc="1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03653" y="4845685"/>
            <a:ext cx="49235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46503" y="8383342"/>
            <a:ext cx="49235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spc="1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CREATION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56777"/>
            <a:ext cx="10326684" cy="190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5"/>
              </a:lnSpc>
            </a:pPr>
            <a:r>
              <a:rPr lang="en-US" sz="14395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SELECTION PROCESS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435286"/>
            <a:ext cx="12060286" cy="246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Application submission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Shortlisting (based on profile &amp; interest)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Interaction / evaluation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 selection of </a:t>
            </a:r>
            <a:r>
              <a:rPr lang="en-US" sz="39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Top 10 Ambassadors</a:t>
            </a:r>
          </a:p>
        </p:txBody>
      </p:sp>
      <p:sp>
        <p:nvSpPr>
          <p:cNvPr id="4" name="Freeform 4"/>
          <p:cNvSpPr/>
          <p:nvPr/>
        </p:nvSpPr>
        <p:spPr>
          <a:xfrm>
            <a:off x="12738056" y="4868962"/>
            <a:ext cx="6180534" cy="6055168"/>
          </a:xfrm>
          <a:custGeom>
            <a:avLst/>
            <a:gdLst/>
            <a:ahLst/>
            <a:cxnLst/>
            <a:rect l="l" t="t" r="r" b="b"/>
            <a:pathLst>
              <a:path w="6180534" h="6055168">
                <a:moveTo>
                  <a:pt x="0" y="0"/>
                </a:moveTo>
                <a:lnTo>
                  <a:pt x="6180534" y="0"/>
                </a:lnTo>
                <a:lnTo>
                  <a:pt x="6180534" y="6055168"/>
                </a:lnTo>
                <a:lnTo>
                  <a:pt x="0" y="605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0" y="-3986"/>
            <a:ext cx="18288000" cy="384511"/>
            <a:chOff x="0" y="0"/>
            <a:chExt cx="4816593" cy="1012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01270"/>
            </a:xfrm>
            <a:custGeom>
              <a:avLst/>
              <a:gdLst/>
              <a:ahLst/>
              <a:cxnLst/>
              <a:rect l="l" t="t" r="r" b="b"/>
              <a:pathLst>
                <a:path w="4816592" h="101270">
                  <a:moveTo>
                    <a:pt x="0" y="0"/>
                  </a:moveTo>
                  <a:lnTo>
                    <a:pt x="4816592" y="0"/>
                  </a:lnTo>
                  <a:lnTo>
                    <a:pt x="4816592" y="101270"/>
                  </a:lnTo>
                  <a:lnTo>
                    <a:pt x="0" y="101270"/>
                  </a:ln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816593" cy="101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0053" y="-385140"/>
            <a:ext cx="7619691" cy="11353831"/>
            <a:chOff x="0" y="0"/>
            <a:chExt cx="10159588" cy="151384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5" r="195"/>
            <a:stretch>
              <a:fillRect/>
            </a:stretch>
          </p:blipFill>
          <p:spPr>
            <a:xfrm>
              <a:off x="0" y="0"/>
              <a:ext cx="10159588" cy="1513844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  <p:sp>
        <p:nvSpPr>
          <p:cNvPr id="8" name="Freeform 8"/>
          <p:cNvSpPr/>
          <p:nvPr/>
        </p:nvSpPr>
        <p:spPr>
          <a:xfrm rot="-1708586">
            <a:off x="13447326" y="6225386"/>
            <a:ext cx="3843209" cy="3554968"/>
          </a:xfrm>
          <a:custGeom>
            <a:avLst/>
            <a:gdLst/>
            <a:ahLst/>
            <a:cxnLst/>
            <a:rect l="l" t="t" r="r" b="b"/>
            <a:pathLst>
              <a:path w="3843209" h="3554968">
                <a:moveTo>
                  <a:pt x="0" y="0"/>
                </a:moveTo>
                <a:lnTo>
                  <a:pt x="3843209" y="0"/>
                </a:lnTo>
                <a:lnTo>
                  <a:pt x="3843209" y="3554969"/>
                </a:lnTo>
                <a:lnTo>
                  <a:pt x="0" y="35549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965839"/>
            <a:ext cx="8115300" cy="234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0"/>
              </a:lnSpc>
            </a:pPr>
            <a:r>
              <a:rPr lang="en-US" sz="9030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ROLE OF CAMPUS AMBASSADOR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6220" y="5430211"/>
            <a:ext cx="7700248" cy="278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Represent Prime Engage in college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Promote events &amp; drive registrations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campus community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 digital content 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Coordinate with college authorities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8332" y="0"/>
            <a:ext cx="10264068" cy="10287000"/>
            <a:chOff x="0" y="0"/>
            <a:chExt cx="13685424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4572000"/>
              <a:ext cx="13685424" cy="4572000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9144000"/>
              <a:ext cx="13685424" cy="4572000"/>
            </a:xfrm>
            <a:prstGeom prst="rect">
              <a:avLst/>
            </a:prstGeom>
            <a:solidFill>
              <a:srgbClr val="BF137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681240" y="747217"/>
            <a:ext cx="1908505" cy="190850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681240" y="4189248"/>
            <a:ext cx="1908505" cy="190850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5681240" y="7660230"/>
            <a:ext cx="1908505" cy="19085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5070484" y="8841570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84662" y="-4620207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2340976"/>
            <a:ext cx="7642613" cy="292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45"/>
              </a:lnSpc>
            </a:pPr>
            <a:r>
              <a:rPr lang="en-US" sz="11245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KEY RESPONSIBILITIES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" y="5419611"/>
            <a:ext cx="8652507" cy="290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786" lvl="1" indent="-342893" algn="l">
              <a:lnSpc>
                <a:spcPts val="3811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Execute on-ground promotions </a:t>
            </a:r>
          </a:p>
          <a:p>
            <a:pPr marL="685786" lvl="1" indent="-342893" algn="l">
              <a:lnSpc>
                <a:spcPts val="3811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Drive participation for chess &amp; esports events </a:t>
            </a:r>
          </a:p>
          <a:p>
            <a:pPr marL="685786" lvl="1" indent="-342893" algn="l">
              <a:lnSpc>
                <a:spcPts val="3811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Manage campus-level engagement </a:t>
            </a:r>
          </a:p>
          <a:p>
            <a:pPr marL="685786" lvl="1" indent="-342893" algn="l">
              <a:lnSpc>
                <a:spcPts val="3811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 as a local point of contact </a:t>
            </a:r>
          </a:p>
          <a:p>
            <a:pPr marL="685786" lvl="1" indent="-342893" algn="l">
              <a:lnSpc>
                <a:spcPts val="3811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 event execution (if required)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9710" y="1375397"/>
            <a:ext cx="574304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ON-GROUND PROMOTIONS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99710" y="4853191"/>
            <a:ext cx="574304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 PARTICIPATION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99710" y="8237695"/>
            <a:ext cx="574304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CAMPUS ENGAGEMENT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93496" y="8600813"/>
            <a:ext cx="3498691" cy="657487"/>
            <a:chOff x="0" y="0"/>
            <a:chExt cx="862573" cy="162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573" cy="162098"/>
            </a:xfrm>
            <a:custGeom>
              <a:avLst/>
              <a:gdLst/>
              <a:ahLst/>
              <a:cxnLst/>
              <a:rect l="l" t="t" r="r" b="b"/>
              <a:pathLst>
                <a:path w="862573" h="162098">
                  <a:moveTo>
                    <a:pt x="81049" y="0"/>
                  </a:moveTo>
                  <a:lnTo>
                    <a:pt x="781524" y="0"/>
                  </a:lnTo>
                  <a:cubicBezTo>
                    <a:pt x="826287" y="0"/>
                    <a:pt x="862573" y="36287"/>
                    <a:pt x="862573" y="81049"/>
                  </a:cubicBezTo>
                  <a:lnTo>
                    <a:pt x="862573" y="81049"/>
                  </a:lnTo>
                  <a:cubicBezTo>
                    <a:pt x="862573" y="102544"/>
                    <a:pt x="854034" y="123160"/>
                    <a:pt x="838835" y="138359"/>
                  </a:cubicBezTo>
                  <a:cubicBezTo>
                    <a:pt x="823635" y="153559"/>
                    <a:pt x="803020" y="162098"/>
                    <a:pt x="781524" y="162098"/>
                  </a:cubicBezTo>
                  <a:lnTo>
                    <a:pt x="81049" y="162098"/>
                  </a:lnTo>
                  <a:cubicBezTo>
                    <a:pt x="59553" y="162098"/>
                    <a:pt x="38938" y="153559"/>
                    <a:pt x="23739" y="138359"/>
                  </a:cubicBezTo>
                  <a:cubicBezTo>
                    <a:pt x="8539" y="123160"/>
                    <a:pt x="0" y="102544"/>
                    <a:pt x="0" y="81049"/>
                  </a:cubicBezTo>
                  <a:lnTo>
                    <a:pt x="0" y="81049"/>
                  </a:lnTo>
                  <a:cubicBezTo>
                    <a:pt x="0" y="59553"/>
                    <a:pt x="8539" y="38938"/>
                    <a:pt x="23739" y="23739"/>
                  </a:cubicBezTo>
                  <a:cubicBezTo>
                    <a:pt x="38938" y="8539"/>
                    <a:pt x="59553" y="0"/>
                    <a:pt x="8104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2573" cy="2097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84760" y="0"/>
            <a:ext cx="7603240" cy="10287000"/>
            <a:chOff x="0" y="0"/>
            <a:chExt cx="654750" cy="8858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750" cy="885861"/>
            </a:xfrm>
            <a:custGeom>
              <a:avLst/>
              <a:gdLst/>
              <a:ahLst/>
              <a:cxnLst/>
              <a:rect l="l" t="t" r="r" b="b"/>
              <a:pathLst>
                <a:path w="654750" h="885861">
                  <a:moveTo>
                    <a:pt x="0" y="0"/>
                  </a:moveTo>
                  <a:lnTo>
                    <a:pt x="654750" y="0"/>
                  </a:lnTo>
                  <a:lnTo>
                    <a:pt x="654750" y="885861"/>
                  </a:lnTo>
                  <a:lnTo>
                    <a:pt x="0" y="885861"/>
                  </a:lnTo>
                  <a:close/>
                </a:path>
              </a:pathLst>
            </a:custGeom>
            <a:blipFill>
              <a:blip r:embed="rId2"/>
              <a:stretch>
                <a:fillRect l="-4710" r="-471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053122"/>
            <a:ext cx="9685425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</a:pPr>
            <a:r>
              <a:rPr lang="en-US" sz="12000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BENEFITS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8066" y="4881922"/>
            <a:ext cx="9685425" cy="337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318"/>
              </a:lnSpc>
            </a:pPr>
            <a:r>
              <a:rPr lang="en-US" sz="379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Why Join Campus Connect?</a:t>
            </a:r>
          </a:p>
          <a:p>
            <a:pPr marL="820140" lvl="1" indent="-410070" algn="just">
              <a:lnSpc>
                <a:spcPts val="5318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Financial incentives </a:t>
            </a:r>
          </a:p>
          <a:p>
            <a:pPr marL="820140" lvl="1" indent="-410070" algn="just">
              <a:lnSpc>
                <a:spcPts val="5318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Career opportunities </a:t>
            </a:r>
          </a:p>
          <a:p>
            <a:pPr marL="820140" lvl="1" indent="-410070" algn="just">
              <a:lnSpc>
                <a:spcPts val="5318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Networking exposure </a:t>
            </a:r>
          </a:p>
          <a:p>
            <a:pPr marL="820140" lvl="1" indent="-410070" algn="just">
              <a:lnSpc>
                <a:spcPts val="5318"/>
              </a:lnSpc>
              <a:buFont typeface="Arial"/>
              <a:buChar char="•"/>
            </a:pPr>
            <a:r>
              <a:rPr lang="en-US" sz="379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Premium event access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3853" y="5425391"/>
            <a:ext cx="10719999" cy="12438452"/>
            <a:chOff x="0" y="0"/>
            <a:chExt cx="2823374" cy="3275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23374" cy="3275971"/>
            </a:xfrm>
            <a:custGeom>
              <a:avLst/>
              <a:gdLst/>
              <a:ahLst/>
              <a:cxnLst/>
              <a:rect l="l" t="t" r="r" b="b"/>
              <a:pathLst>
                <a:path w="2823374" h="3275971">
                  <a:moveTo>
                    <a:pt x="36832" y="0"/>
                  </a:moveTo>
                  <a:lnTo>
                    <a:pt x="2786542" y="0"/>
                  </a:lnTo>
                  <a:cubicBezTo>
                    <a:pt x="2796311" y="0"/>
                    <a:pt x="2805679" y="3880"/>
                    <a:pt x="2812586" y="10788"/>
                  </a:cubicBezTo>
                  <a:cubicBezTo>
                    <a:pt x="2819494" y="17695"/>
                    <a:pt x="2823374" y="27063"/>
                    <a:pt x="2823374" y="36832"/>
                  </a:cubicBezTo>
                  <a:lnTo>
                    <a:pt x="2823374" y="3239139"/>
                  </a:lnTo>
                  <a:cubicBezTo>
                    <a:pt x="2823374" y="3248908"/>
                    <a:pt x="2819494" y="3258276"/>
                    <a:pt x="2812586" y="3265183"/>
                  </a:cubicBezTo>
                  <a:cubicBezTo>
                    <a:pt x="2805679" y="3272091"/>
                    <a:pt x="2796311" y="3275971"/>
                    <a:pt x="2786542" y="3275971"/>
                  </a:cubicBezTo>
                  <a:lnTo>
                    <a:pt x="36832" y="3275971"/>
                  </a:lnTo>
                  <a:cubicBezTo>
                    <a:pt x="27063" y="3275971"/>
                    <a:pt x="17695" y="3272091"/>
                    <a:pt x="10788" y="3265183"/>
                  </a:cubicBezTo>
                  <a:cubicBezTo>
                    <a:pt x="3880" y="3258276"/>
                    <a:pt x="0" y="3248908"/>
                    <a:pt x="0" y="3239139"/>
                  </a:cubicBezTo>
                  <a:lnTo>
                    <a:pt x="0" y="36832"/>
                  </a:lnTo>
                  <a:cubicBezTo>
                    <a:pt x="0" y="27063"/>
                    <a:pt x="3880" y="17695"/>
                    <a:pt x="10788" y="10788"/>
                  </a:cubicBezTo>
                  <a:cubicBezTo>
                    <a:pt x="17695" y="3880"/>
                    <a:pt x="27063" y="0"/>
                    <a:pt x="36832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823374" cy="3275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16828" y="-463363"/>
            <a:ext cx="9596395" cy="11777509"/>
            <a:chOff x="0" y="0"/>
            <a:chExt cx="2527445" cy="31018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7446" cy="3101895"/>
            </a:xfrm>
            <a:custGeom>
              <a:avLst/>
              <a:gdLst/>
              <a:ahLst/>
              <a:cxnLst/>
              <a:rect l="l" t="t" r="r" b="b"/>
              <a:pathLst>
                <a:path w="2527446" h="3101895">
                  <a:moveTo>
                    <a:pt x="41144" y="0"/>
                  </a:moveTo>
                  <a:lnTo>
                    <a:pt x="2486301" y="0"/>
                  </a:lnTo>
                  <a:cubicBezTo>
                    <a:pt x="2497213" y="0"/>
                    <a:pt x="2507679" y="4335"/>
                    <a:pt x="2515395" y="12051"/>
                  </a:cubicBezTo>
                  <a:cubicBezTo>
                    <a:pt x="2523111" y="19767"/>
                    <a:pt x="2527446" y="30232"/>
                    <a:pt x="2527446" y="41144"/>
                  </a:cubicBezTo>
                  <a:lnTo>
                    <a:pt x="2527446" y="3060751"/>
                  </a:lnTo>
                  <a:cubicBezTo>
                    <a:pt x="2527446" y="3071663"/>
                    <a:pt x="2523111" y="3082128"/>
                    <a:pt x="2515395" y="3089844"/>
                  </a:cubicBezTo>
                  <a:cubicBezTo>
                    <a:pt x="2507679" y="3097560"/>
                    <a:pt x="2497213" y="3101895"/>
                    <a:pt x="2486301" y="3101895"/>
                  </a:cubicBezTo>
                  <a:lnTo>
                    <a:pt x="41144" y="3101895"/>
                  </a:lnTo>
                  <a:cubicBezTo>
                    <a:pt x="30232" y="3101895"/>
                    <a:pt x="19767" y="3097560"/>
                    <a:pt x="12051" y="3089844"/>
                  </a:cubicBezTo>
                  <a:cubicBezTo>
                    <a:pt x="4335" y="3082128"/>
                    <a:pt x="0" y="3071663"/>
                    <a:pt x="0" y="3060751"/>
                  </a:cubicBezTo>
                  <a:lnTo>
                    <a:pt x="0" y="41144"/>
                  </a:lnTo>
                  <a:cubicBezTo>
                    <a:pt x="0" y="30232"/>
                    <a:pt x="4335" y="19767"/>
                    <a:pt x="12051" y="12051"/>
                  </a:cubicBezTo>
                  <a:cubicBezTo>
                    <a:pt x="19767" y="4335"/>
                    <a:pt x="30232" y="0"/>
                    <a:pt x="41144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27445" cy="310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80523" y="855606"/>
            <a:ext cx="3289388" cy="3086100"/>
            <a:chOff x="0" y="0"/>
            <a:chExt cx="86634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316683"/>
            <a:ext cx="7642613" cy="283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31"/>
              </a:lnSpc>
            </a:pPr>
            <a:r>
              <a:rPr lang="en-US" sz="10931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EARNINGS OPPORTUNITY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643619"/>
            <a:ext cx="7270745" cy="358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₹5,000 – ₹50,000 incentives </a:t>
            </a:r>
          </a:p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Based on: </a:t>
            </a:r>
          </a:p>
          <a:p>
            <a:pPr marL="1252221" lvl="2" indent="-417407" algn="just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Performance </a:t>
            </a:r>
          </a:p>
          <a:p>
            <a:pPr marL="1252221" lvl="2" indent="-417407" algn="just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 contribution </a:t>
            </a:r>
          </a:p>
          <a:p>
            <a:pPr marL="626111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Opportunity to work on: </a:t>
            </a:r>
          </a:p>
          <a:p>
            <a:pPr marL="1252221" lvl="2" indent="-417407" algn="just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Chess Championships </a:t>
            </a:r>
          </a:p>
          <a:p>
            <a:pPr marL="1252221" lvl="2" indent="-417407" algn="just">
              <a:lnSpc>
                <a:spcPts val="4060"/>
              </a:lnSpc>
              <a:buFont typeface="Arial"/>
              <a:buChar char="⚬"/>
            </a:pPr>
            <a:r>
              <a:rPr lang="en-US" sz="29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Esports Events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969912" y="3606143"/>
            <a:ext cx="3289388" cy="3086100"/>
            <a:chOff x="0" y="0"/>
            <a:chExt cx="866341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680523" y="6345294"/>
            <a:ext cx="3289388" cy="3086100"/>
            <a:chOff x="0" y="0"/>
            <a:chExt cx="866341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709942" y="2154584"/>
            <a:ext cx="3230550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</a:pPr>
            <a:r>
              <a:rPr lang="en-US" sz="2600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₹5,000 - ₹50,000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21888" y="4658338"/>
            <a:ext cx="2785436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</a:pPr>
            <a:r>
              <a:rPr lang="en-US" sz="26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BASED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84475" y="7397489"/>
            <a:ext cx="2281484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</a:pPr>
            <a:r>
              <a:rPr lang="en-US" sz="2600" b="1">
                <a:solidFill>
                  <a:srgbClr val="1B1D1B"/>
                </a:solidFill>
                <a:latin typeface="Poppins Bold"/>
                <a:ea typeface="Poppins Bold"/>
                <a:cs typeface="Poppins Bold"/>
                <a:sym typeface="Poppins Bold"/>
              </a:rPr>
              <a:t>EVENT REWARDS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649648" y="-2276457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4" y="0"/>
                </a:lnTo>
                <a:lnTo>
                  <a:pt x="5219304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196843" y="8841570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3" y="0"/>
                </a:lnTo>
                <a:lnTo>
                  <a:pt x="5219303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70053" y="-385140"/>
            <a:ext cx="7619691" cy="11353831"/>
            <a:chOff x="0" y="0"/>
            <a:chExt cx="10159588" cy="151384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5" r="195"/>
            <a:stretch>
              <a:fillRect/>
            </a:stretch>
          </p:blipFill>
          <p:spPr>
            <a:xfrm>
              <a:off x="0" y="0"/>
              <a:ext cx="10159588" cy="1513844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046694" y="0"/>
            <a:ext cx="2285142" cy="10287000"/>
            <a:chOff x="0" y="0"/>
            <a:chExt cx="60184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1848" cy="2709333"/>
            </a:xfrm>
            <a:custGeom>
              <a:avLst/>
              <a:gdLst/>
              <a:ahLst/>
              <a:cxnLst/>
              <a:rect l="l" t="t" r="r" b="b"/>
              <a:pathLst>
                <a:path w="601848" h="2709333">
                  <a:moveTo>
                    <a:pt x="0" y="0"/>
                  </a:moveTo>
                  <a:lnTo>
                    <a:pt x="601848" y="0"/>
                  </a:lnTo>
                  <a:lnTo>
                    <a:pt x="601848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601848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654354">
            <a:off x="12018467" y="5143583"/>
            <a:ext cx="5928443" cy="4127176"/>
          </a:xfrm>
          <a:custGeom>
            <a:avLst/>
            <a:gdLst/>
            <a:ahLst/>
            <a:cxnLst/>
            <a:rect l="l" t="t" r="r" b="b"/>
            <a:pathLst>
              <a:path w="5928443" h="4127176">
                <a:moveTo>
                  <a:pt x="0" y="0"/>
                </a:moveTo>
                <a:lnTo>
                  <a:pt x="5928443" y="0"/>
                </a:lnTo>
                <a:lnTo>
                  <a:pt x="5928443" y="4127176"/>
                </a:lnTo>
                <a:lnTo>
                  <a:pt x="0" y="4127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265763"/>
            <a:ext cx="8115300" cy="1727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27"/>
              </a:lnSpc>
            </a:pPr>
            <a:r>
              <a:rPr lang="en-US" sz="13027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GAMING BENEFITS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7317" y="5279437"/>
            <a:ext cx="7875218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Gaming Zone Vouchers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Access to city-based gaming venues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Exclusive gaming experiences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38332" y="0"/>
            <a:ext cx="7097160" cy="10287000"/>
            <a:chOff x="0" y="0"/>
            <a:chExt cx="946288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9462880" cy="4572000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0" y="4572000"/>
              <a:ext cx="9462880" cy="4572000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0" y="9144000"/>
              <a:ext cx="9462880" cy="4572000"/>
            </a:xfrm>
            <a:prstGeom prst="rect">
              <a:avLst/>
            </a:prstGeom>
            <a:solidFill>
              <a:srgbClr val="BF137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681240" y="1028700"/>
            <a:ext cx="1908505" cy="19085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681240" y="4377802"/>
            <a:ext cx="1908505" cy="190850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681240" y="7726905"/>
            <a:ext cx="1908505" cy="190850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3300" y="0"/>
                  </a:moveTo>
                  <a:lnTo>
                    <a:pt x="719500" y="0"/>
                  </a:lnTo>
                  <a:cubicBezTo>
                    <a:pt x="744244" y="0"/>
                    <a:pt x="767976" y="9830"/>
                    <a:pt x="785473" y="27327"/>
                  </a:cubicBezTo>
                  <a:cubicBezTo>
                    <a:pt x="802970" y="44824"/>
                    <a:pt x="812800" y="68556"/>
                    <a:pt x="812800" y="93300"/>
                  </a:cubicBezTo>
                  <a:lnTo>
                    <a:pt x="812800" y="719500"/>
                  </a:lnTo>
                  <a:cubicBezTo>
                    <a:pt x="812800" y="744244"/>
                    <a:pt x="802970" y="767976"/>
                    <a:pt x="785473" y="785473"/>
                  </a:cubicBezTo>
                  <a:cubicBezTo>
                    <a:pt x="767976" y="802970"/>
                    <a:pt x="744244" y="812800"/>
                    <a:pt x="719500" y="812800"/>
                  </a:cubicBezTo>
                  <a:lnTo>
                    <a:pt x="93300" y="812800"/>
                  </a:lnTo>
                  <a:cubicBezTo>
                    <a:pt x="68556" y="812800"/>
                    <a:pt x="44824" y="802970"/>
                    <a:pt x="27327" y="785473"/>
                  </a:cubicBezTo>
                  <a:cubicBezTo>
                    <a:pt x="9830" y="767976"/>
                    <a:pt x="0" y="744244"/>
                    <a:pt x="0" y="719500"/>
                  </a:cubicBezTo>
                  <a:lnTo>
                    <a:pt x="0" y="93300"/>
                  </a:lnTo>
                  <a:cubicBezTo>
                    <a:pt x="0" y="68556"/>
                    <a:pt x="9830" y="44824"/>
                    <a:pt x="27327" y="27327"/>
                  </a:cubicBezTo>
                  <a:cubicBezTo>
                    <a:pt x="44824" y="9830"/>
                    <a:pt x="68556" y="0"/>
                    <a:pt x="933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070484" y="8841570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84662" y="-4620207"/>
            <a:ext cx="5233169" cy="5233169"/>
          </a:xfrm>
          <a:custGeom>
            <a:avLst/>
            <a:gdLst/>
            <a:ahLst/>
            <a:cxnLst/>
            <a:rect l="l" t="t" r="r" b="b"/>
            <a:pathLst>
              <a:path w="5233169" h="5233169">
                <a:moveTo>
                  <a:pt x="0" y="0"/>
                </a:moveTo>
                <a:lnTo>
                  <a:pt x="5233169" y="0"/>
                </a:lnTo>
                <a:lnTo>
                  <a:pt x="5233169" y="5233169"/>
                </a:lnTo>
                <a:lnTo>
                  <a:pt x="0" y="52331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67878" y="3177935"/>
            <a:ext cx="7642613" cy="165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43"/>
              </a:lnSpc>
            </a:pPr>
            <a:r>
              <a:rPr lang="en-US" sz="12543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AMBASSADOR KIT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4368" y="5061190"/>
            <a:ext cx="8509632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9826" lvl="1" indent="-409913" algn="l">
              <a:lnSpc>
                <a:spcPts val="4556"/>
              </a:lnSpc>
              <a:buFont typeface="Arial"/>
              <a:buChar char="•"/>
            </a:pPr>
            <a:r>
              <a:rPr lang="en-US" sz="37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Prime Engage Hoodie </a:t>
            </a:r>
          </a:p>
          <a:p>
            <a:pPr marL="819826" lvl="1" indent="-409913" algn="l">
              <a:lnSpc>
                <a:spcPts val="4556"/>
              </a:lnSpc>
              <a:buFont typeface="Arial"/>
              <a:buChar char="•"/>
            </a:pPr>
            <a:r>
              <a:rPr lang="en-US" sz="37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Diary &amp; Notebook </a:t>
            </a:r>
          </a:p>
          <a:p>
            <a:pPr marL="819826" lvl="1" indent="-409913" algn="l">
              <a:lnSpc>
                <a:spcPts val="4556"/>
              </a:lnSpc>
              <a:buFont typeface="Arial"/>
              <a:buChar char="•"/>
            </a:pPr>
            <a:r>
              <a:rPr lang="en-US" sz="37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Branded Merchandise </a:t>
            </a:r>
          </a:p>
          <a:p>
            <a:pPr marL="819826" lvl="1" indent="-409913" algn="l">
              <a:lnSpc>
                <a:spcPts val="4556"/>
              </a:lnSpc>
              <a:buFont typeface="Arial"/>
              <a:buChar char="•"/>
            </a:pPr>
            <a:r>
              <a:rPr lang="en-US" sz="37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Welcome Kit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8592" y="1330352"/>
            <a:ext cx="5510015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PRIME ENGAGE HOODIE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28592" y="4775227"/>
            <a:ext cx="5510015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DIARY &amp; NOTEBOOK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28592" y="8216095"/>
            <a:ext cx="5510015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BRANDED MERCHANDISE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59987"/>
            <a:ext cx="9616828" cy="4527013"/>
            <a:chOff x="0" y="0"/>
            <a:chExt cx="2532827" cy="1192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2827" cy="1192300"/>
            </a:xfrm>
            <a:custGeom>
              <a:avLst/>
              <a:gdLst/>
              <a:ahLst/>
              <a:cxnLst/>
              <a:rect l="l" t="t" r="r" b="b"/>
              <a:pathLst>
                <a:path w="2532827" h="1192300">
                  <a:moveTo>
                    <a:pt x="0" y="0"/>
                  </a:moveTo>
                  <a:lnTo>
                    <a:pt x="2532827" y="0"/>
                  </a:lnTo>
                  <a:lnTo>
                    <a:pt x="2532827" y="1192300"/>
                  </a:lnTo>
                  <a:lnTo>
                    <a:pt x="0" y="1192300"/>
                  </a:ln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532827" cy="119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16828" y="0"/>
            <a:ext cx="8671172" cy="10287000"/>
            <a:chOff x="0" y="0"/>
            <a:chExt cx="228376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83765" cy="2709333"/>
            </a:xfrm>
            <a:custGeom>
              <a:avLst/>
              <a:gdLst/>
              <a:ahLst/>
              <a:cxnLst/>
              <a:rect l="l" t="t" r="r" b="b"/>
              <a:pathLst>
                <a:path w="2283765" h="2709333">
                  <a:moveTo>
                    <a:pt x="0" y="0"/>
                  </a:moveTo>
                  <a:lnTo>
                    <a:pt x="2283765" y="0"/>
                  </a:lnTo>
                  <a:lnTo>
                    <a:pt x="228376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283765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80523" y="855606"/>
            <a:ext cx="3289388" cy="3086100"/>
            <a:chOff x="0" y="0"/>
            <a:chExt cx="86634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616864"/>
            <a:ext cx="7642613" cy="283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31"/>
              </a:lnSpc>
            </a:pPr>
            <a:r>
              <a:rPr lang="en-US" sz="10931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INTERNSHIP OPPORTUNITY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969912" y="3606143"/>
            <a:ext cx="3289388" cy="3086100"/>
            <a:chOff x="0" y="0"/>
            <a:chExt cx="866341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80523" y="6345294"/>
            <a:ext cx="3289388" cy="3086100"/>
            <a:chOff x="0" y="0"/>
            <a:chExt cx="866341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6341" cy="812800"/>
            </a:xfrm>
            <a:custGeom>
              <a:avLst/>
              <a:gdLst/>
              <a:ahLst/>
              <a:cxnLst/>
              <a:rect l="l" t="t" r="r" b="b"/>
              <a:pathLst>
                <a:path w="866341" h="812800">
                  <a:moveTo>
                    <a:pt x="120034" y="0"/>
                  </a:moveTo>
                  <a:lnTo>
                    <a:pt x="746307" y="0"/>
                  </a:lnTo>
                  <a:cubicBezTo>
                    <a:pt x="812600" y="0"/>
                    <a:pt x="866341" y="53741"/>
                    <a:pt x="866341" y="120034"/>
                  </a:cubicBezTo>
                  <a:lnTo>
                    <a:pt x="866341" y="692766"/>
                  </a:lnTo>
                  <a:cubicBezTo>
                    <a:pt x="866341" y="724601"/>
                    <a:pt x="853695" y="755132"/>
                    <a:pt x="831184" y="777643"/>
                  </a:cubicBezTo>
                  <a:cubicBezTo>
                    <a:pt x="808673" y="800154"/>
                    <a:pt x="778142" y="812800"/>
                    <a:pt x="746307" y="812800"/>
                  </a:cubicBezTo>
                  <a:lnTo>
                    <a:pt x="120034" y="812800"/>
                  </a:lnTo>
                  <a:cubicBezTo>
                    <a:pt x="88199" y="812800"/>
                    <a:pt x="57668" y="800154"/>
                    <a:pt x="35157" y="777643"/>
                  </a:cubicBezTo>
                  <a:cubicBezTo>
                    <a:pt x="12646" y="755132"/>
                    <a:pt x="0" y="724601"/>
                    <a:pt x="0" y="692766"/>
                  </a:cubicBezTo>
                  <a:lnTo>
                    <a:pt x="0" y="120034"/>
                  </a:lnTo>
                  <a:cubicBezTo>
                    <a:pt x="0" y="88199"/>
                    <a:pt x="12646" y="57668"/>
                    <a:pt x="35157" y="35157"/>
                  </a:cubicBezTo>
                  <a:cubicBezTo>
                    <a:pt x="57668" y="12646"/>
                    <a:pt x="88199" y="0"/>
                    <a:pt x="1200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866341" cy="812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184475" y="2119024"/>
            <a:ext cx="228148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</a:pPr>
            <a:r>
              <a:rPr lang="en-US" sz="2800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92468" y="4598035"/>
            <a:ext cx="2844275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EVENT MANAGEMENT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84475" y="7342879"/>
            <a:ext cx="2281484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</a:pPr>
            <a:r>
              <a:rPr lang="en-US" sz="2800" b="1">
                <a:solidFill>
                  <a:srgbClr val="1B1D1B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CREATION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649648" y="-2276457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4" y="0"/>
                </a:lnTo>
                <a:lnTo>
                  <a:pt x="5219304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196843" y="8841570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3" y="0"/>
                </a:lnTo>
                <a:lnTo>
                  <a:pt x="5219303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169" b="-5342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42026" y="6158393"/>
            <a:ext cx="8509632" cy="597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</a:pPr>
            <a:r>
              <a:rPr lang="en-US" sz="3597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3-Month Internship at Prime Engage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026" y="6972300"/>
            <a:ext cx="8509632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6"/>
              </a:lnSpc>
            </a:pPr>
            <a:r>
              <a:rPr lang="en-US" sz="35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Exposure to: </a:t>
            </a:r>
          </a:p>
          <a:p>
            <a:pPr marL="776647" lvl="1" indent="-388324" algn="l">
              <a:lnSpc>
                <a:spcPts val="4316"/>
              </a:lnSpc>
              <a:buFont typeface="Arial"/>
              <a:buChar char="•"/>
            </a:pPr>
            <a:r>
              <a:rPr lang="en-US" sz="35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Marketing </a:t>
            </a:r>
          </a:p>
          <a:p>
            <a:pPr marL="776647" lvl="1" indent="-388324" algn="l">
              <a:lnSpc>
                <a:spcPts val="4316"/>
              </a:lnSpc>
              <a:buFont typeface="Arial"/>
              <a:buChar char="•"/>
            </a:pPr>
            <a:r>
              <a:rPr lang="en-US" sz="35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 Management </a:t>
            </a:r>
          </a:p>
          <a:p>
            <a:pPr marL="776647" lvl="1" indent="-388324" algn="l">
              <a:lnSpc>
                <a:spcPts val="4316"/>
              </a:lnSpc>
              <a:buFont typeface="Arial"/>
              <a:buChar char="•"/>
            </a:pPr>
            <a:r>
              <a:rPr lang="en-US" sz="359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Content Creation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57053" y="-1659619"/>
            <a:ext cx="8212815" cy="13606238"/>
            <a:chOff x="0" y="0"/>
            <a:chExt cx="2163046" cy="3583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3046" cy="3583536"/>
            </a:xfrm>
            <a:custGeom>
              <a:avLst/>
              <a:gdLst/>
              <a:ahLst/>
              <a:cxnLst/>
              <a:rect l="l" t="t" r="r" b="b"/>
              <a:pathLst>
                <a:path w="2163046" h="3583536">
                  <a:moveTo>
                    <a:pt x="48076" y="0"/>
                  </a:moveTo>
                  <a:lnTo>
                    <a:pt x="2114970" y="0"/>
                  </a:lnTo>
                  <a:cubicBezTo>
                    <a:pt x="2127721" y="0"/>
                    <a:pt x="2139949" y="5065"/>
                    <a:pt x="2148965" y="14081"/>
                  </a:cubicBezTo>
                  <a:cubicBezTo>
                    <a:pt x="2157981" y="23097"/>
                    <a:pt x="2163046" y="35325"/>
                    <a:pt x="2163046" y="48076"/>
                  </a:cubicBezTo>
                  <a:lnTo>
                    <a:pt x="2163046" y="3535460"/>
                  </a:lnTo>
                  <a:cubicBezTo>
                    <a:pt x="2163046" y="3548211"/>
                    <a:pt x="2157981" y="3560439"/>
                    <a:pt x="2148965" y="3569455"/>
                  </a:cubicBezTo>
                  <a:cubicBezTo>
                    <a:pt x="2139949" y="3578471"/>
                    <a:pt x="2127721" y="3583536"/>
                    <a:pt x="2114970" y="3583536"/>
                  </a:cubicBezTo>
                  <a:lnTo>
                    <a:pt x="48076" y="3583536"/>
                  </a:lnTo>
                  <a:cubicBezTo>
                    <a:pt x="35325" y="3583536"/>
                    <a:pt x="23097" y="3578471"/>
                    <a:pt x="14081" y="3569455"/>
                  </a:cubicBezTo>
                  <a:cubicBezTo>
                    <a:pt x="5065" y="3560439"/>
                    <a:pt x="0" y="3548211"/>
                    <a:pt x="0" y="3535460"/>
                  </a:cubicBezTo>
                  <a:lnTo>
                    <a:pt x="0" y="48076"/>
                  </a:lnTo>
                  <a:cubicBezTo>
                    <a:pt x="0" y="35325"/>
                    <a:pt x="5065" y="23097"/>
                    <a:pt x="14081" y="14081"/>
                  </a:cubicBezTo>
                  <a:cubicBezTo>
                    <a:pt x="23097" y="5065"/>
                    <a:pt x="35325" y="0"/>
                    <a:pt x="48076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63046" cy="3583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84978" y="3111435"/>
            <a:ext cx="9546354" cy="8212815"/>
            <a:chOff x="0" y="0"/>
            <a:chExt cx="2514266" cy="21630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4266" cy="2163046"/>
            </a:xfrm>
            <a:custGeom>
              <a:avLst/>
              <a:gdLst/>
              <a:ahLst/>
              <a:cxnLst/>
              <a:rect l="l" t="t" r="r" b="b"/>
              <a:pathLst>
                <a:path w="2514266" h="2163046">
                  <a:moveTo>
                    <a:pt x="41360" y="0"/>
                  </a:moveTo>
                  <a:lnTo>
                    <a:pt x="2472906" y="0"/>
                  </a:lnTo>
                  <a:cubicBezTo>
                    <a:pt x="2483875" y="0"/>
                    <a:pt x="2494395" y="4358"/>
                    <a:pt x="2502152" y="12114"/>
                  </a:cubicBezTo>
                  <a:cubicBezTo>
                    <a:pt x="2509908" y="19871"/>
                    <a:pt x="2514266" y="30391"/>
                    <a:pt x="2514266" y="41360"/>
                  </a:cubicBezTo>
                  <a:lnTo>
                    <a:pt x="2514266" y="2121686"/>
                  </a:lnTo>
                  <a:cubicBezTo>
                    <a:pt x="2514266" y="2144528"/>
                    <a:pt x="2495748" y="2163046"/>
                    <a:pt x="2472906" y="2163046"/>
                  </a:cubicBezTo>
                  <a:lnTo>
                    <a:pt x="41360" y="2163046"/>
                  </a:lnTo>
                  <a:cubicBezTo>
                    <a:pt x="18518" y="2163046"/>
                    <a:pt x="0" y="2144528"/>
                    <a:pt x="0" y="2121686"/>
                  </a:cubicBezTo>
                  <a:lnTo>
                    <a:pt x="0" y="41360"/>
                  </a:lnTo>
                  <a:cubicBezTo>
                    <a:pt x="0" y="18518"/>
                    <a:pt x="18518" y="0"/>
                    <a:pt x="41360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14266" cy="2163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27469" y="2046976"/>
            <a:ext cx="6461372" cy="64613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7558" y="0"/>
                  </a:moveTo>
                  <a:lnTo>
                    <a:pt x="785242" y="0"/>
                  </a:lnTo>
                  <a:cubicBezTo>
                    <a:pt x="800462" y="0"/>
                    <a:pt x="812800" y="12338"/>
                    <a:pt x="812800" y="27558"/>
                  </a:cubicBezTo>
                  <a:lnTo>
                    <a:pt x="812800" y="785242"/>
                  </a:lnTo>
                  <a:cubicBezTo>
                    <a:pt x="812800" y="800462"/>
                    <a:pt x="800462" y="812800"/>
                    <a:pt x="785242" y="812800"/>
                  </a:cubicBezTo>
                  <a:lnTo>
                    <a:pt x="27558" y="812800"/>
                  </a:lnTo>
                  <a:cubicBezTo>
                    <a:pt x="12338" y="812800"/>
                    <a:pt x="0" y="800462"/>
                    <a:pt x="0" y="785242"/>
                  </a:cubicBezTo>
                  <a:lnTo>
                    <a:pt x="0" y="27558"/>
                  </a:lnTo>
                  <a:cubicBezTo>
                    <a:pt x="0" y="12338"/>
                    <a:pt x="12338" y="0"/>
                    <a:pt x="27558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7805372" y="13345"/>
            <a:ext cx="1991741" cy="5207167"/>
          </a:xfrm>
          <a:custGeom>
            <a:avLst/>
            <a:gdLst/>
            <a:ahLst/>
            <a:cxnLst/>
            <a:rect l="l" t="t" r="r" b="b"/>
            <a:pathLst>
              <a:path w="1991741" h="5207167">
                <a:moveTo>
                  <a:pt x="0" y="0"/>
                </a:moveTo>
                <a:lnTo>
                  <a:pt x="1991741" y="0"/>
                </a:lnTo>
                <a:lnTo>
                  <a:pt x="1991741" y="5207167"/>
                </a:lnTo>
                <a:lnTo>
                  <a:pt x="0" y="5207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639522"/>
            <a:ext cx="7313679" cy="330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403"/>
              </a:lnSpc>
            </a:pPr>
            <a:r>
              <a:rPr lang="en-US" sz="14592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EXCLUSIVE ACCESS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974" y="5906507"/>
            <a:ext cx="7044398" cy="264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VIP Event Passes 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Behind-the-scenes exposure 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Direct involvement in major events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3853" y="5828246"/>
            <a:ext cx="13330323" cy="12035597"/>
            <a:chOff x="0" y="0"/>
            <a:chExt cx="3510867" cy="31698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0867" cy="3169869"/>
            </a:xfrm>
            <a:custGeom>
              <a:avLst/>
              <a:gdLst/>
              <a:ahLst/>
              <a:cxnLst/>
              <a:rect l="l" t="t" r="r" b="b"/>
              <a:pathLst>
                <a:path w="3510867" h="3169869">
                  <a:moveTo>
                    <a:pt x="29620" y="0"/>
                  </a:moveTo>
                  <a:lnTo>
                    <a:pt x="3481248" y="0"/>
                  </a:lnTo>
                  <a:cubicBezTo>
                    <a:pt x="3489103" y="0"/>
                    <a:pt x="3496637" y="3121"/>
                    <a:pt x="3502192" y="8675"/>
                  </a:cubicBezTo>
                  <a:cubicBezTo>
                    <a:pt x="3507746" y="14230"/>
                    <a:pt x="3510867" y="21764"/>
                    <a:pt x="3510867" y="29620"/>
                  </a:cubicBezTo>
                  <a:lnTo>
                    <a:pt x="3510867" y="3140250"/>
                  </a:lnTo>
                  <a:cubicBezTo>
                    <a:pt x="3510867" y="3148105"/>
                    <a:pt x="3507746" y="3155639"/>
                    <a:pt x="3502192" y="3161194"/>
                  </a:cubicBezTo>
                  <a:cubicBezTo>
                    <a:pt x="3496637" y="3166749"/>
                    <a:pt x="3489103" y="3169869"/>
                    <a:pt x="3481248" y="3169869"/>
                  </a:cubicBezTo>
                  <a:lnTo>
                    <a:pt x="29620" y="3169869"/>
                  </a:lnTo>
                  <a:cubicBezTo>
                    <a:pt x="21764" y="3169869"/>
                    <a:pt x="14230" y="3166749"/>
                    <a:pt x="8675" y="3161194"/>
                  </a:cubicBezTo>
                  <a:cubicBezTo>
                    <a:pt x="3121" y="3155639"/>
                    <a:pt x="0" y="3148105"/>
                    <a:pt x="0" y="3140250"/>
                  </a:cubicBezTo>
                  <a:lnTo>
                    <a:pt x="0" y="29620"/>
                  </a:lnTo>
                  <a:cubicBezTo>
                    <a:pt x="0" y="21764"/>
                    <a:pt x="3121" y="14230"/>
                    <a:pt x="8675" y="8675"/>
                  </a:cubicBezTo>
                  <a:cubicBezTo>
                    <a:pt x="14230" y="3121"/>
                    <a:pt x="21764" y="0"/>
                    <a:pt x="29620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510867" cy="3169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25564" y="-463363"/>
            <a:ext cx="7387658" cy="11777509"/>
            <a:chOff x="0" y="0"/>
            <a:chExt cx="1945721" cy="31018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45721" cy="3101895"/>
            </a:xfrm>
            <a:custGeom>
              <a:avLst/>
              <a:gdLst/>
              <a:ahLst/>
              <a:cxnLst/>
              <a:rect l="l" t="t" r="r" b="b"/>
              <a:pathLst>
                <a:path w="1945721" h="3101895">
                  <a:moveTo>
                    <a:pt x="53446" y="0"/>
                  </a:moveTo>
                  <a:lnTo>
                    <a:pt x="1892275" y="0"/>
                  </a:lnTo>
                  <a:cubicBezTo>
                    <a:pt x="1921792" y="0"/>
                    <a:pt x="1945721" y="23928"/>
                    <a:pt x="1945721" y="53446"/>
                  </a:cubicBezTo>
                  <a:lnTo>
                    <a:pt x="1945721" y="3048450"/>
                  </a:lnTo>
                  <a:cubicBezTo>
                    <a:pt x="1945721" y="3062624"/>
                    <a:pt x="1940090" y="3076218"/>
                    <a:pt x="1930067" y="3086241"/>
                  </a:cubicBezTo>
                  <a:cubicBezTo>
                    <a:pt x="1920044" y="3096264"/>
                    <a:pt x="1906450" y="3101895"/>
                    <a:pt x="1892275" y="3101895"/>
                  </a:cubicBezTo>
                  <a:lnTo>
                    <a:pt x="53446" y="3101895"/>
                  </a:lnTo>
                  <a:cubicBezTo>
                    <a:pt x="23928" y="3101895"/>
                    <a:pt x="0" y="3077967"/>
                    <a:pt x="0" y="3048450"/>
                  </a:cubicBezTo>
                  <a:lnTo>
                    <a:pt x="0" y="53446"/>
                  </a:lnTo>
                  <a:cubicBezTo>
                    <a:pt x="0" y="23928"/>
                    <a:pt x="23928" y="0"/>
                    <a:pt x="534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945721" cy="3101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616864"/>
            <a:ext cx="7642613" cy="283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31"/>
              </a:lnSpc>
            </a:pPr>
            <a:r>
              <a:rPr lang="en-US" sz="10931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COLLEGE COLLABORATION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5942" y="6385499"/>
            <a:ext cx="8588128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Bring your college onboard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 sponsorship opportunities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Fest collaborations &amp; activations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649648" y="-2276457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4" y="0"/>
                </a:lnTo>
                <a:lnTo>
                  <a:pt x="5219304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96843" y="8841570"/>
            <a:ext cx="5219303" cy="5219303"/>
          </a:xfrm>
          <a:custGeom>
            <a:avLst/>
            <a:gdLst/>
            <a:ahLst/>
            <a:cxnLst/>
            <a:rect l="l" t="t" r="r" b="b"/>
            <a:pathLst>
              <a:path w="5219303" h="5219303">
                <a:moveTo>
                  <a:pt x="0" y="0"/>
                </a:moveTo>
                <a:lnTo>
                  <a:pt x="5219303" y="0"/>
                </a:lnTo>
                <a:lnTo>
                  <a:pt x="5219303" y="5219303"/>
                </a:lnTo>
                <a:lnTo>
                  <a:pt x="0" y="5219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64891" y="-385140"/>
            <a:ext cx="7619691" cy="11353831"/>
            <a:chOff x="0" y="0"/>
            <a:chExt cx="10159588" cy="151384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5" r="195"/>
            <a:stretch>
              <a:fillRect/>
            </a:stretch>
          </p:blipFill>
          <p:spPr>
            <a:xfrm>
              <a:off x="0" y="0"/>
              <a:ext cx="10159588" cy="15138441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6046694" y="-681691"/>
            <a:ext cx="3086100" cy="11650381"/>
            <a:chOff x="0" y="0"/>
            <a:chExt cx="812800" cy="30684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3068413"/>
            </a:xfrm>
            <a:custGeom>
              <a:avLst/>
              <a:gdLst/>
              <a:ahLst/>
              <a:cxnLst/>
              <a:rect l="l" t="t" r="r" b="b"/>
              <a:pathLst>
                <a:path w="812800" h="3068413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940472"/>
                  </a:lnTo>
                  <a:cubicBezTo>
                    <a:pt x="812800" y="2974404"/>
                    <a:pt x="799321" y="3006946"/>
                    <a:pt x="775327" y="3030940"/>
                  </a:cubicBezTo>
                  <a:cubicBezTo>
                    <a:pt x="751333" y="3054934"/>
                    <a:pt x="718791" y="3068413"/>
                    <a:pt x="684859" y="3068413"/>
                  </a:cubicBezTo>
                  <a:lnTo>
                    <a:pt x="127941" y="3068413"/>
                  </a:lnTo>
                  <a:cubicBezTo>
                    <a:pt x="94009" y="3068413"/>
                    <a:pt x="61467" y="3054934"/>
                    <a:pt x="37473" y="3030940"/>
                  </a:cubicBezTo>
                  <a:cubicBezTo>
                    <a:pt x="13479" y="3006946"/>
                    <a:pt x="0" y="2974404"/>
                    <a:pt x="0" y="294047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812800" cy="3068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71324" y="6100825"/>
            <a:ext cx="4826516" cy="4925016"/>
          </a:xfrm>
          <a:custGeom>
            <a:avLst/>
            <a:gdLst/>
            <a:ahLst/>
            <a:cxnLst/>
            <a:rect l="l" t="t" r="r" b="b"/>
            <a:pathLst>
              <a:path w="4826516" h="4925016">
                <a:moveTo>
                  <a:pt x="0" y="0"/>
                </a:moveTo>
                <a:lnTo>
                  <a:pt x="4826516" y="0"/>
                </a:lnTo>
                <a:lnTo>
                  <a:pt x="4826516" y="4925016"/>
                </a:lnTo>
                <a:lnTo>
                  <a:pt x="0" y="492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601150"/>
            <a:ext cx="6579028" cy="344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09"/>
              </a:lnSpc>
            </a:pPr>
            <a:r>
              <a:rPr lang="en-US" sz="14617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INDUSTRY EXPOSURE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169" b="-53423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6100825"/>
            <a:ext cx="7047548" cy="2949983"/>
            <a:chOff x="0" y="0"/>
            <a:chExt cx="9396730" cy="3933311"/>
          </a:xfrm>
        </p:grpSpPr>
        <p:sp>
          <p:nvSpPr>
            <p:cNvPr id="11" name="TextBox 11"/>
            <p:cNvSpPr txBox="1"/>
            <p:nvPr/>
          </p:nvSpPr>
          <p:spPr>
            <a:xfrm>
              <a:off x="624693" y="-38100"/>
              <a:ext cx="8772037" cy="3971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25"/>
                </a:lnSpc>
              </a:pPr>
              <a:r>
                <a:rPr lang="en-US" sz="360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Invitations to: </a:t>
              </a:r>
            </a:p>
            <a:p>
              <a:pPr marL="778778" lvl="1" indent="-389389" algn="l">
                <a:lnSpc>
                  <a:spcPts val="4725"/>
                </a:lnSpc>
                <a:buFont typeface="Arial"/>
                <a:buChar char="•"/>
              </a:pPr>
              <a:r>
                <a:rPr lang="en-US" sz="360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Industry Leader Meets </a:t>
              </a:r>
            </a:p>
            <a:p>
              <a:pPr marL="778778" lvl="1" indent="-389389" algn="l">
                <a:lnSpc>
                  <a:spcPts val="4725"/>
                </a:lnSpc>
                <a:buFont typeface="Arial"/>
                <a:buChar char="•"/>
              </a:pPr>
              <a:r>
                <a:rPr lang="en-US" sz="360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Networking events </a:t>
              </a:r>
            </a:p>
            <a:p>
              <a:pPr marL="0" lvl="0" indent="0" algn="l">
                <a:lnSpc>
                  <a:spcPts val="4725"/>
                </a:lnSpc>
              </a:pPr>
              <a:r>
                <a:rPr lang="en-US" sz="360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Build connections with professionals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27000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2452442"/>
              <a:ext cx="401960" cy="430480"/>
            </a:xfrm>
            <a:custGeom>
              <a:avLst/>
              <a:gdLst/>
              <a:ahLst/>
              <a:cxnLst/>
              <a:rect l="l" t="t" r="r" b="b"/>
              <a:pathLst>
                <a:path w="401960" h="430480">
                  <a:moveTo>
                    <a:pt x="0" y="0"/>
                  </a:moveTo>
                  <a:lnTo>
                    <a:pt x="401960" y="0"/>
                  </a:lnTo>
                  <a:lnTo>
                    <a:pt x="401960" y="430480"/>
                  </a:lnTo>
                  <a:lnTo>
                    <a:pt x="0" y="43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57053" y="-1659619"/>
            <a:ext cx="8212815" cy="13606238"/>
            <a:chOff x="0" y="0"/>
            <a:chExt cx="2163046" cy="3583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3046" cy="3583536"/>
            </a:xfrm>
            <a:custGeom>
              <a:avLst/>
              <a:gdLst/>
              <a:ahLst/>
              <a:cxnLst/>
              <a:rect l="l" t="t" r="r" b="b"/>
              <a:pathLst>
                <a:path w="2163046" h="3583536">
                  <a:moveTo>
                    <a:pt x="48076" y="0"/>
                  </a:moveTo>
                  <a:lnTo>
                    <a:pt x="2114970" y="0"/>
                  </a:lnTo>
                  <a:cubicBezTo>
                    <a:pt x="2127721" y="0"/>
                    <a:pt x="2139949" y="5065"/>
                    <a:pt x="2148965" y="14081"/>
                  </a:cubicBezTo>
                  <a:cubicBezTo>
                    <a:pt x="2157981" y="23097"/>
                    <a:pt x="2163046" y="35325"/>
                    <a:pt x="2163046" y="48076"/>
                  </a:cubicBezTo>
                  <a:lnTo>
                    <a:pt x="2163046" y="3535460"/>
                  </a:lnTo>
                  <a:cubicBezTo>
                    <a:pt x="2163046" y="3548211"/>
                    <a:pt x="2157981" y="3560439"/>
                    <a:pt x="2148965" y="3569455"/>
                  </a:cubicBezTo>
                  <a:cubicBezTo>
                    <a:pt x="2139949" y="3578471"/>
                    <a:pt x="2127721" y="3583536"/>
                    <a:pt x="2114970" y="3583536"/>
                  </a:cubicBezTo>
                  <a:lnTo>
                    <a:pt x="48076" y="3583536"/>
                  </a:lnTo>
                  <a:cubicBezTo>
                    <a:pt x="35325" y="3583536"/>
                    <a:pt x="23097" y="3578471"/>
                    <a:pt x="14081" y="3569455"/>
                  </a:cubicBezTo>
                  <a:cubicBezTo>
                    <a:pt x="5065" y="3560439"/>
                    <a:pt x="0" y="3548211"/>
                    <a:pt x="0" y="3535460"/>
                  </a:cubicBezTo>
                  <a:lnTo>
                    <a:pt x="0" y="48076"/>
                  </a:lnTo>
                  <a:cubicBezTo>
                    <a:pt x="0" y="35325"/>
                    <a:pt x="5065" y="23097"/>
                    <a:pt x="14081" y="14081"/>
                  </a:cubicBezTo>
                  <a:cubicBezTo>
                    <a:pt x="23097" y="5065"/>
                    <a:pt x="35325" y="0"/>
                    <a:pt x="48076" y="0"/>
                  </a:cubicBez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163046" cy="3583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84978" y="3111435"/>
            <a:ext cx="9546354" cy="8212815"/>
            <a:chOff x="0" y="0"/>
            <a:chExt cx="2514266" cy="21630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4266" cy="2163046"/>
            </a:xfrm>
            <a:custGeom>
              <a:avLst/>
              <a:gdLst/>
              <a:ahLst/>
              <a:cxnLst/>
              <a:rect l="l" t="t" r="r" b="b"/>
              <a:pathLst>
                <a:path w="2514266" h="2163046">
                  <a:moveTo>
                    <a:pt x="41360" y="0"/>
                  </a:moveTo>
                  <a:lnTo>
                    <a:pt x="2472906" y="0"/>
                  </a:lnTo>
                  <a:cubicBezTo>
                    <a:pt x="2483875" y="0"/>
                    <a:pt x="2494395" y="4358"/>
                    <a:pt x="2502152" y="12114"/>
                  </a:cubicBezTo>
                  <a:cubicBezTo>
                    <a:pt x="2509908" y="19871"/>
                    <a:pt x="2514266" y="30391"/>
                    <a:pt x="2514266" y="41360"/>
                  </a:cubicBezTo>
                  <a:lnTo>
                    <a:pt x="2514266" y="2121686"/>
                  </a:lnTo>
                  <a:cubicBezTo>
                    <a:pt x="2514266" y="2144528"/>
                    <a:pt x="2495748" y="2163046"/>
                    <a:pt x="2472906" y="2163046"/>
                  </a:cubicBezTo>
                  <a:lnTo>
                    <a:pt x="41360" y="2163046"/>
                  </a:lnTo>
                  <a:cubicBezTo>
                    <a:pt x="18518" y="2163046"/>
                    <a:pt x="0" y="2144528"/>
                    <a:pt x="0" y="2121686"/>
                  </a:cubicBezTo>
                  <a:lnTo>
                    <a:pt x="0" y="41360"/>
                  </a:lnTo>
                  <a:cubicBezTo>
                    <a:pt x="0" y="18518"/>
                    <a:pt x="18518" y="0"/>
                    <a:pt x="41360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14266" cy="2163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27469" y="2046976"/>
            <a:ext cx="6461372" cy="64613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7558" y="0"/>
                  </a:moveTo>
                  <a:lnTo>
                    <a:pt x="785242" y="0"/>
                  </a:lnTo>
                  <a:cubicBezTo>
                    <a:pt x="800462" y="0"/>
                    <a:pt x="812800" y="12338"/>
                    <a:pt x="812800" y="27558"/>
                  </a:cubicBezTo>
                  <a:lnTo>
                    <a:pt x="812800" y="785242"/>
                  </a:lnTo>
                  <a:cubicBezTo>
                    <a:pt x="812800" y="800462"/>
                    <a:pt x="800462" y="812800"/>
                    <a:pt x="785242" y="812800"/>
                  </a:cubicBezTo>
                  <a:lnTo>
                    <a:pt x="27558" y="812800"/>
                  </a:lnTo>
                  <a:cubicBezTo>
                    <a:pt x="12338" y="812800"/>
                    <a:pt x="0" y="800462"/>
                    <a:pt x="0" y="785242"/>
                  </a:cubicBezTo>
                  <a:lnTo>
                    <a:pt x="0" y="27558"/>
                  </a:lnTo>
                  <a:cubicBezTo>
                    <a:pt x="0" y="12338"/>
                    <a:pt x="12338" y="0"/>
                    <a:pt x="27558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0172890" y="6049506"/>
            <a:ext cx="3120807" cy="3120807"/>
          </a:xfrm>
          <a:custGeom>
            <a:avLst/>
            <a:gdLst/>
            <a:ahLst/>
            <a:cxnLst/>
            <a:rect l="l" t="t" r="r" b="b"/>
            <a:pathLst>
              <a:path w="3120807" h="3120807">
                <a:moveTo>
                  <a:pt x="0" y="0"/>
                </a:moveTo>
                <a:lnTo>
                  <a:pt x="3120807" y="0"/>
                </a:lnTo>
                <a:lnTo>
                  <a:pt x="3120807" y="3120807"/>
                </a:lnTo>
                <a:lnTo>
                  <a:pt x="0" y="3120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714621"/>
            <a:ext cx="7581405" cy="260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CONTENT &amp; MEDIA EXPOSURE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169" b="-53423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28700" y="5507973"/>
            <a:ext cx="8902916" cy="3000375"/>
            <a:chOff x="0" y="0"/>
            <a:chExt cx="11870555" cy="4000500"/>
          </a:xfrm>
        </p:grpSpPr>
        <p:sp>
          <p:nvSpPr>
            <p:cNvPr id="14" name="TextBox 14"/>
            <p:cNvSpPr txBox="1"/>
            <p:nvPr/>
          </p:nvSpPr>
          <p:spPr>
            <a:xfrm>
              <a:off x="629261" y="0"/>
              <a:ext cx="11241294" cy="4000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82"/>
                </a:lnSpc>
              </a:pPr>
              <a:r>
                <a:rPr lang="en-US" sz="398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Feature in: </a:t>
              </a:r>
            </a:p>
            <a:p>
              <a:pPr marL="860497" lvl="1" indent="-430248" algn="l">
                <a:lnSpc>
                  <a:spcPts val="4782"/>
                </a:lnSpc>
                <a:buFont typeface="Arial"/>
                <a:buChar char="•"/>
              </a:pPr>
              <a:r>
                <a:rPr lang="en-US" sz="398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Podcasts </a:t>
              </a:r>
            </a:p>
            <a:p>
              <a:pPr marL="860497" lvl="1" indent="-430248" algn="l">
                <a:lnSpc>
                  <a:spcPts val="4782"/>
                </a:lnSpc>
                <a:buFont typeface="Arial"/>
                <a:buChar char="•"/>
              </a:pPr>
              <a:r>
                <a:rPr lang="en-US" sz="398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Social media campaigns </a:t>
              </a:r>
            </a:p>
            <a:p>
              <a:pPr marL="0" lvl="0" indent="0" algn="l">
                <a:lnSpc>
                  <a:spcPts val="4782"/>
                </a:lnSpc>
              </a:pPr>
              <a:r>
                <a:rPr lang="en-US" sz="398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Opportunity to grow as a content creator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44499"/>
              <a:ext cx="431235" cy="461831"/>
            </a:xfrm>
            <a:custGeom>
              <a:avLst/>
              <a:gdLst/>
              <a:ahLst/>
              <a:cxnLst/>
              <a:rect l="l" t="t" r="r" b="b"/>
              <a:pathLst>
                <a:path w="431235" h="461831">
                  <a:moveTo>
                    <a:pt x="0" y="0"/>
                  </a:moveTo>
                  <a:lnTo>
                    <a:pt x="431235" y="0"/>
                  </a:lnTo>
                  <a:lnTo>
                    <a:pt x="431235" y="461831"/>
                  </a:lnTo>
                  <a:lnTo>
                    <a:pt x="0" y="461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2523407"/>
              <a:ext cx="431235" cy="461831"/>
            </a:xfrm>
            <a:custGeom>
              <a:avLst/>
              <a:gdLst/>
              <a:ahLst/>
              <a:cxnLst/>
              <a:rect l="l" t="t" r="r" b="b"/>
              <a:pathLst>
                <a:path w="431235" h="461831">
                  <a:moveTo>
                    <a:pt x="0" y="0"/>
                  </a:moveTo>
                  <a:lnTo>
                    <a:pt x="431235" y="0"/>
                  </a:lnTo>
                  <a:lnTo>
                    <a:pt x="431235" y="461831"/>
                  </a:lnTo>
                  <a:lnTo>
                    <a:pt x="0" y="461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250156"/>
            <a:ext cx="18288000" cy="2036844"/>
            <a:chOff x="0" y="0"/>
            <a:chExt cx="24384000" cy="2715792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6096000" cy="2715792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096000" y="0"/>
              <a:ext cx="6096000" cy="2715792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12192000" y="0"/>
              <a:ext cx="6096000" cy="2715792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18288000" y="0"/>
              <a:ext cx="6096000" cy="2715792"/>
            </a:xfrm>
            <a:prstGeom prst="rect">
              <a:avLst/>
            </a:prstGeom>
            <a:solidFill>
              <a:srgbClr val="BF137F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2356438" y="2779711"/>
            <a:ext cx="4825390" cy="5499020"/>
          </a:xfrm>
          <a:custGeom>
            <a:avLst/>
            <a:gdLst/>
            <a:ahLst/>
            <a:cxnLst/>
            <a:rect l="l" t="t" r="r" b="b"/>
            <a:pathLst>
              <a:path w="4825390" h="5499020">
                <a:moveTo>
                  <a:pt x="0" y="0"/>
                </a:moveTo>
                <a:lnTo>
                  <a:pt x="4825390" y="0"/>
                </a:lnTo>
                <a:lnTo>
                  <a:pt x="4825390" y="5499020"/>
                </a:lnTo>
                <a:lnTo>
                  <a:pt x="0" y="5499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747023"/>
            <a:ext cx="10326684" cy="208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87"/>
              </a:lnSpc>
            </a:pPr>
            <a:r>
              <a:rPr lang="en-US" sz="15687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GROWTH &amp;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7586" y="5004240"/>
            <a:ext cx="8970334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leadership skills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Strengthen resume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Create personal brand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Gain real-world experience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9472" y="8738929"/>
            <a:ext cx="271269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BUILD LEADERSHIP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03346" y="8738929"/>
            <a:ext cx="271269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STRENGTHEN RESUME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99034" y="8738929"/>
            <a:ext cx="271269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BRAND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07233" y="8738929"/>
            <a:ext cx="2712699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REAL EXPERIENCE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0043" y="7987316"/>
            <a:ext cx="19048085" cy="2299684"/>
            <a:chOff x="0" y="0"/>
            <a:chExt cx="25397447" cy="3066246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6349362" cy="3066246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6349362" y="0"/>
              <a:ext cx="6349362" cy="3066246"/>
            </a:xfrm>
            <a:prstGeom prst="rect">
              <a:avLst/>
            </a:prstGeom>
            <a:solidFill>
              <a:srgbClr val="BF137F"/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12698723" y="0"/>
              <a:ext cx="6349362" cy="3066246"/>
            </a:xfrm>
            <a:prstGeom prst="rect">
              <a:avLst/>
            </a:prstGeom>
            <a:solidFill>
              <a:srgbClr val="F6C42C"/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19048085" y="0"/>
              <a:ext cx="6349362" cy="3066246"/>
            </a:xfrm>
            <a:prstGeom prst="rect">
              <a:avLst/>
            </a:prstGeom>
            <a:solidFill>
              <a:srgbClr val="BF137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028700" y="2600425"/>
            <a:ext cx="10326684" cy="162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79"/>
              </a:lnSpc>
            </a:pPr>
            <a:r>
              <a:rPr lang="en-US" sz="12179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PERFORMANCE METRICS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398363"/>
            <a:ext cx="8441513" cy="28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456"/>
              </a:lnSpc>
            </a:pPr>
            <a:r>
              <a:rPr lang="en-US" sz="37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Ambassadors will be evaluated on:</a:t>
            </a:r>
          </a:p>
          <a:p>
            <a:pPr marL="801788" lvl="1" indent="-400894" algn="just">
              <a:lnSpc>
                <a:spcPts val="4456"/>
              </a:lnSpc>
              <a:buFont typeface="Arial"/>
              <a:buChar char="•"/>
            </a:pPr>
            <a:r>
              <a:rPr lang="en-US" sz="37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Registrations driven </a:t>
            </a:r>
          </a:p>
          <a:p>
            <a:pPr marL="801788" lvl="1" indent="-400894" algn="just">
              <a:lnSpc>
                <a:spcPts val="4456"/>
              </a:lnSpc>
              <a:buFont typeface="Arial"/>
              <a:buChar char="•"/>
            </a:pPr>
            <a:r>
              <a:rPr lang="en-US" sz="37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Engagement created </a:t>
            </a:r>
          </a:p>
          <a:p>
            <a:pPr marL="801788" lvl="1" indent="-400894" algn="just">
              <a:lnSpc>
                <a:spcPts val="4456"/>
              </a:lnSpc>
              <a:buFont typeface="Arial"/>
              <a:buChar char="•"/>
            </a:pPr>
            <a:r>
              <a:rPr lang="en-US" sz="37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Content output 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Event participation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2705841" y="2944665"/>
            <a:ext cx="5136572" cy="4397669"/>
          </a:xfrm>
          <a:custGeom>
            <a:avLst/>
            <a:gdLst/>
            <a:ahLst/>
            <a:cxnLst/>
            <a:rect l="l" t="t" r="r" b="b"/>
            <a:pathLst>
              <a:path w="5136572" h="4397669">
                <a:moveTo>
                  <a:pt x="0" y="0"/>
                </a:moveTo>
                <a:lnTo>
                  <a:pt x="5136573" y="0"/>
                </a:lnTo>
                <a:lnTo>
                  <a:pt x="5136573" y="4397670"/>
                </a:lnTo>
                <a:lnTo>
                  <a:pt x="0" y="4397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56" b="-876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6356" y="8839343"/>
            <a:ext cx="3231904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88485" y="8839343"/>
            <a:ext cx="2712699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 dirty="0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ENGAGEMENT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93142" y="8839343"/>
            <a:ext cx="2712699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10567" y="8839343"/>
            <a:ext cx="3152026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</a:pPr>
            <a:r>
              <a:rPr lang="en-US" sz="2799" b="1">
                <a:solidFill>
                  <a:schemeClr val="bg1"/>
                </a:solidFill>
                <a:latin typeface="Poppins Bold"/>
                <a:ea typeface="Poppins Bold"/>
                <a:cs typeface="Poppins Bold"/>
                <a:sym typeface="Poppins Bold"/>
              </a:rPr>
              <a:t>PARTICIPATION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84978" y="0"/>
            <a:ext cx="7603022" cy="10287000"/>
            <a:chOff x="0" y="0"/>
            <a:chExt cx="200244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2442" cy="2709333"/>
            </a:xfrm>
            <a:custGeom>
              <a:avLst/>
              <a:gdLst/>
              <a:ahLst/>
              <a:cxnLst/>
              <a:rect l="l" t="t" r="r" b="b"/>
              <a:pathLst>
                <a:path w="2002442" h="2709333">
                  <a:moveTo>
                    <a:pt x="0" y="0"/>
                  </a:moveTo>
                  <a:lnTo>
                    <a:pt x="2002442" y="0"/>
                  </a:lnTo>
                  <a:lnTo>
                    <a:pt x="20024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002442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84974" y="4411420"/>
            <a:ext cx="9546354" cy="6912830"/>
            <a:chOff x="0" y="0"/>
            <a:chExt cx="2514266" cy="18206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14266" cy="1820663"/>
            </a:xfrm>
            <a:custGeom>
              <a:avLst/>
              <a:gdLst/>
              <a:ahLst/>
              <a:cxnLst/>
              <a:rect l="l" t="t" r="r" b="b"/>
              <a:pathLst>
                <a:path w="2514266" h="1820663">
                  <a:moveTo>
                    <a:pt x="41360" y="0"/>
                  </a:moveTo>
                  <a:lnTo>
                    <a:pt x="2472906" y="0"/>
                  </a:lnTo>
                  <a:cubicBezTo>
                    <a:pt x="2483875" y="0"/>
                    <a:pt x="2494395" y="4358"/>
                    <a:pt x="2502152" y="12114"/>
                  </a:cubicBezTo>
                  <a:cubicBezTo>
                    <a:pt x="2509908" y="19871"/>
                    <a:pt x="2514266" y="30391"/>
                    <a:pt x="2514266" y="41360"/>
                  </a:cubicBezTo>
                  <a:lnTo>
                    <a:pt x="2514266" y="1779303"/>
                  </a:lnTo>
                  <a:cubicBezTo>
                    <a:pt x="2514266" y="1802145"/>
                    <a:pt x="2495748" y="1820663"/>
                    <a:pt x="2472906" y="1820663"/>
                  </a:cubicBezTo>
                  <a:lnTo>
                    <a:pt x="41360" y="1820663"/>
                  </a:lnTo>
                  <a:cubicBezTo>
                    <a:pt x="18518" y="1820663"/>
                    <a:pt x="0" y="1802145"/>
                    <a:pt x="0" y="1779303"/>
                  </a:cubicBezTo>
                  <a:lnTo>
                    <a:pt x="0" y="41360"/>
                  </a:lnTo>
                  <a:cubicBezTo>
                    <a:pt x="0" y="18518"/>
                    <a:pt x="18518" y="0"/>
                    <a:pt x="41360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14266" cy="1820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27469" y="2046976"/>
            <a:ext cx="6458731" cy="6461372"/>
            <a:chOff x="0" y="0"/>
            <a:chExt cx="812468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468" cy="812800"/>
            </a:xfrm>
            <a:custGeom>
              <a:avLst/>
              <a:gdLst/>
              <a:ahLst/>
              <a:cxnLst/>
              <a:rect l="l" t="t" r="r" b="b"/>
              <a:pathLst>
                <a:path w="812468" h="812800">
                  <a:moveTo>
                    <a:pt x="25172" y="0"/>
                  </a:moveTo>
                  <a:lnTo>
                    <a:pt x="787296" y="0"/>
                  </a:lnTo>
                  <a:cubicBezTo>
                    <a:pt x="793972" y="0"/>
                    <a:pt x="800374" y="2652"/>
                    <a:pt x="805095" y="7373"/>
                  </a:cubicBezTo>
                  <a:cubicBezTo>
                    <a:pt x="809816" y="12093"/>
                    <a:pt x="812468" y="18496"/>
                    <a:pt x="812468" y="25172"/>
                  </a:cubicBezTo>
                  <a:lnTo>
                    <a:pt x="812468" y="787628"/>
                  </a:lnTo>
                  <a:cubicBezTo>
                    <a:pt x="812468" y="794304"/>
                    <a:pt x="809816" y="800707"/>
                    <a:pt x="805095" y="805427"/>
                  </a:cubicBezTo>
                  <a:cubicBezTo>
                    <a:pt x="800374" y="810148"/>
                    <a:pt x="793972" y="812800"/>
                    <a:pt x="787296" y="812800"/>
                  </a:cubicBezTo>
                  <a:lnTo>
                    <a:pt x="25172" y="812800"/>
                  </a:lnTo>
                  <a:cubicBezTo>
                    <a:pt x="18496" y="812800"/>
                    <a:pt x="12093" y="810148"/>
                    <a:pt x="7373" y="805427"/>
                  </a:cubicBezTo>
                  <a:cubicBezTo>
                    <a:pt x="2652" y="800707"/>
                    <a:pt x="0" y="794304"/>
                    <a:pt x="0" y="787628"/>
                  </a:cubicBezTo>
                  <a:lnTo>
                    <a:pt x="0" y="25172"/>
                  </a:lnTo>
                  <a:cubicBezTo>
                    <a:pt x="0" y="18496"/>
                    <a:pt x="2652" y="12093"/>
                    <a:pt x="7373" y="7373"/>
                  </a:cubicBezTo>
                  <a:cubicBezTo>
                    <a:pt x="12093" y="2652"/>
                    <a:pt x="18496" y="0"/>
                    <a:pt x="25172" y="0"/>
                  </a:cubicBezTo>
                  <a:close/>
                </a:path>
              </a:pathLst>
            </a:custGeom>
            <a:blipFill>
              <a:blip r:embed="rId2"/>
              <a:stretch>
                <a:fillRect l="-20" r="-20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1157053" y="1028700"/>
            <a:ext cx="3201098" cy="3382720"/>
          </a:xfrm>
          <a:custGeom>
            <a:avLst/>
            <a:gdLst/>
            <a:ahLst/>
            <a:cxnLst/>
            <a:rect l="l" t="t" r="r" b="b"/>
            <a:pathLst>
              <a:path w="3201098" h="3382720">
                <a:moveTo>
                  <a:pt x="0" y="0"/>
                </a:moveTo>
                <a:lnTo>
                  <a:pt x="3201098" y="0"/>
                </a:lnTo>
                <a:lnTo>
                  <a:pt x="3201098" y="3382720"/>
                </a:lnTo>
                <a:lnTo>
                  <a:pt x="0" y="3382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3158538"/>
            <a:ext cx="9656278" cy="2210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90"/>
              </a:lnSpc>
            </a:pPr>
            <a:r>
              <a:rPr lang="en-US" sz="16590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RECOGNITION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581835"/>
            <a:ext cx="7105827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Top performers get:</a:t>
            </a:r>
          </a:p>
          <a:p>
            <a:pPr marL="820421" lvl="1" indent="-410210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Higher incentives </a:t>
            </a:r>
          </a:p>
          <a:p>
            <a:pPr marL="820421" lvl="1" indent="-410210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Priority internship roles </a:t>
            </a:r>
          </a:p>
          <a:p>
            <a:pPr marL="820421" lvl="1" indent="-410210" algn="just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National-level exposure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169" b="-5342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58400" y="0"/>
            <a:ext cx="8229600" cy="10287000"/>
          </a:xfrm>
          <a:custGeom>
            <a:avLst/>
            <a:gdLst/>
            <a:ahLst/>
            <a:cxnLst/>
            <a:rect l="l" t="t" r="r" b="b"/>
            <a:pathLst>
              <a:path w="8229600" h="10287000">
                <a:moveTo>
                  <a:pt x="0" y="0"/>
                </a:moveTo>
                <a:lnTo>
                  <a:pt x="8229600" y="0"/>
                </a:lnTo>
                <a:lnTo>
                  <a:pt x="8229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516911"/>
            <a:ext cx="7409993" cy="165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38"/>
              </a:lnSpc>
            </a:pPr>
            <a:r>
              <a:rPr lang="en-US" sz="12538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PROGRAM REACH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0994" y="5276198"/>
            <a:ext cx="6392513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500+ Colleges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Multi-city activation 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Pan India impact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556932" y="0"/>
            <a:ext cx="501468" cy="10287000"/>
            <a:chOff x="0" y="0"/>
            <a:chExt cx="132074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074" cy="2709333"/>
            </a:xfrm>
            <a:custGeom>
              <a:avLst/>
              <a:gdLst/>
              <a:ahLst/>
              <a:cxnLst/>
              <a:rect l="l" t="t" r="r" b="b"/>
              <a:pathLst>
                <a:path w="132074" h="2709333">
                  <a:moveTo>
                    <a:pt x="0" y="0"/>
                  </a:moveTo>
                  <a:lnTo>
                    <a:pt x="132074" y="0"/>
                  </a:lnTo>
                  <a:lnTo>
                    <a:pt x="13207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32074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135719"/>
            <a:ext cx="6387811" cy="234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626"/>
              </a:lnSpc>
            </a:pPr>
            <a:r>
              <a:rPr lang="en-US" sz="17626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TIMELINE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0"/>
            <a:ext cx="9546354" cy="6912830"/>
            <a:chOff x="0" y="0"/>
            <a:chExt cx="2514266" cy="18206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14266" cy="1820663"/>
            </a:xfrm>
            <a:custGeom>
              <a:avLst/>
              <a:gdLst/>
              <a:ahLst/>
              <a:cxnLst/>
              <a:rect l="l" t="t" r="r" b="b"/>
              <a:pathLst>
                <a:path w="2514266" h="1820663">
                  <a:moveTo>
                    <a:pt x="41360" y="0"/>
                  </a:moveTo>
                  <a:lnTo>
                    <a:pt x="2472906" y="0"/>
                  </a:lnTo>
                  <a:cubicBezTo>
                    <a:pt x="2483875" y="0"/>
                    <a:pt x="2494395" y="4358"/>
                    <a:pt x="2502152" y="12114"/>
                  </a:cubicBezTo>
                  <a:cubicBezTo>
                    <a:pt x="2509908" y="19871"/>
                    <a:pt x="2514266" y="30391"/>
                    <a:pt x="2514266" y="41360"/>
                  </a:cubicBezTo>
                  <a:lnTo>
                    <a:pt x="2514266" y="1779303"/>
                  </a:lnTo>
                  <a:cubicBezTo>
                    <a:pt x="2514266" y="1802145"/>
                    <a:pt x="2495748" y="1820663"/>
                    <a:pt x="2472906" y="1820663"/>
                  </a:cubicBezTo>
                  <a:lnTo>
                    <a:pt x="41360" y="1820663"/>
                  </a:lnTo>
                  <a:cubicBezTo>
                    <a:pt x="18518" y="1820663"/>
                    <a:pt x="0" y="1802145"/>
                    <a:pt x="0" y="1779303"/>
                  </a:cubicBezTo>
                  <a:lnTo>
                    <a:pt x="0" y="41360"/>
                  </a:lnTo>
                  <a:cubicBezTo>
                    <a:pt x="0" y="18518"/>
                    <a:pt x="18518" y="0"/>
                    <a:pt x="41360" y="0"/>
                  </a:cubicBezTo>
                  <a:close/>
                </a:path>
              </a:pathLst>
            </a:custGeom>
            <a:solidFill>
              <a:srgbClr val="F6C42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514266" cy="1820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84036" y="2700942"/>
            <a:ext cx="10303964" cy="6833658"/>
            <a:chOff x="0" y="0"/>
            <a:chExt cx="2713801" cy="17998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13801" cy="1799811"/>
            </a:xfrm>
            <a:custGeom>
              <a:avLst/>
              <a:gdLst/>
              <a:ahLst/>
              <a:cxnLst/>
              <a:rect l="l" t="t" r="r" b="b"/>
              <a:pathLst>
                <a:path w="2713801" h="1799811">
                  <a:moveTo>
                    <a:pt x="0" y="0"/>
                  </a:moveTo>
                  <a:lnTo>
                    <a:pt x="2713801" y="0"/>
                  </a:lnTo>
                  <a:lnTo>
                    <a:pt x="2713801" y="1799811"/>
                  </a:lnTo>
                  <a:lnTo>
                    <a:pt x="0" y="1799811"/>
                  </a:lnTo>
                  <a:close/>
                </a:path>
              </a:pathLst>
            </a:custGeom>
            <a:solidFill>
              <a:srgbClr val="BF137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713801" cy="1799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739958" y="4198205"/>
            <a:ext cx="7029006" cy="279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3136" lvl="1" indent="-496568" algn="just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Applications Open </a:t>
            </a:r>
          </a:p>
          <a:p>
            <a:pPr marL="993136" lvl="1" indent="-496568" algn="just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Shortlisting </a:t>
            </a:r>
          </a:p>
          <a:p>
            <a:pPr marL="993136" lvl="1" indent="-496568" algn="just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 Selection </a:t>
            </a:r>
          </a:p>
          <a:p>
            <a:pPr marL="993136" lvl="1" indent="-496568" algn="just">
              <a:lnSpc>
                <a:spcPts val="5519"/>
              </a:lnSpc>
              <a:buFont typeface="Arial"/>
              <a:buChar char="•"/>
            </a:pPr>
            <a:r>
              <a:rPr lang="en-US" sz="45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Program Execution 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169" b="-53423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9534600"/>
            <a:ext cx="18288000" cy="752400"/>
            <a:chOff x="0" y="0"/>
            <a:chExt cx="4816593" cy="1981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98163"/>
            </a:xfrm>
            <a:custGeom>
              <a:avLst/>
              <a:gdLst/>
              <a:ahLst/>
              <a:cxnLst/>
              <a:rect l="l" t="t" r="r" b="b"/>
              <a:pathLst>
                <a:path w="4816592" h="198163">
                  <a:moveTo>
                    <a:pt x="0" y="0"/>
                  </a:moveTo>
                  <a:lnTo>
                    <a:pt x="4816592" y="0"/>
                  </a:lnTo>
                  <a:lnTo>
                    <a:pt x="4816592" y="198163"/>
                  </a:lnTo>
                  <a:lnTo>
                    <a:pt x="0" y="198163"/>
                  </a:lnTo>
                  <a:close/>
                </a:path>
              </a:pathLst>
            </a:custGeom>
            <a:gradFill rotWithShape="1">
              <a:gsLst>
                <a:gs pos="0">
                  <a:srgbClr val="D850EC">
                    <a:alpha val="100000"/>
                  </a:srgbClr>
                </a:gs>
                <a:gs pos="100000">
                  <a:srgbClr val="F6C42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816593" cy="198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37705"/>
            <a:ext cx="12028829" cy="3204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68"/>
              </a:lnSpc>
            </a:pPr>
            <a:r>
              <a:rPr lang="en-US" sz="12368">
                <a:gradFill>
                  <a:gsLst>
                    <a:gs pos="0">
                      <a:srgbClr val="D850EC">
                        <a:alpha val="100000"/>
                      </a:srgbClr>
                    </a:gs>
                    <a:gs pos="100000">
                      <a:srgbClr val="F6C42C">
                        <a:alpha val="100000"/>
                      </a:srgbClr>
                    </a:gs>
                  </a:gsLst>
                  <a:lin ang="0"/>
                </a:gradFill>
                <a:latin typeface="Knockout Featherweight Bold"/>
                <a:ea typeface="Knockout Featherweight Bold"/>
                <a:cs typeface="Knockout Featherweight Bold"/>
                <a:sym typeface="Knockout Featherweight Bold"/>
              </a:rPr>
              <a:t>APPLY NOW! LIMITED TO 10 AMBASSADORS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7003393"/>
            <a:ext cx="16230600" cy="7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 Part of India's Fastest-Growing Youth Network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837598" y="0"/>
            <a:ext cx="4450402" cy="4969152"/>
            <a:chOff x="0" y="0"/>
            <a:chExt cx="5933869" cy="6625536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5933869" cy="6625536"/>
            </a:xfrm>
            <a:prstGeom prst="rect">
              <a:avLst/>
            </a:prstGeom>
            <a:solidFill>
              <a:srgbClr val="BF137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8762399"/>
            <a:ext cx="15488174" cy="1516984"/>
            <a:chOff x="0" y="0"/>
            <a:chExt cx="20650898" cy="2022646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20650898" cy="2022646"/>
            </a:xfrm>
            <a:prstGeom prst="rect">
              <a:avLst/>
            </a:prstGeom>
            <a:solidFill>
              <a:srgbClr val="F6C42C"/>
            </a:solidFill>
          </p:spPr>
        </p:sp>
      </p:grpSp>
      <p:sp>
        <p:nvSpPr>
          <p:cNvPr id="8" name="Freeform 8"/>
          <p:cNvSpPr/>
          <p:nvPr/>
        </p:nvSpPr>
        <p:spPr>
          <a:xfrm rot="-1441573">
            <a:off x="14295910" y="329202"/>
            <a:ext cx="4046813" cy="3112438"/>
          </a:xfrm>
          <a:custGeom>
            <a:avLst/>
            <a:gdLst/>
            <a:ahLst/>
            <a:cxnLst/>
            <a:rect l="l" t="t" r="r" b="b"/>
            <a:pathLst>
              <a:path w="4046813" h="3112438">
                <a:moveTo>
                  <a:pt x="0" y="0"/>
                </a:moveTo>
                <a:lnTo>
                  <a:pt x="4046814" y="0"/>
                </a:lnTo>
                <a:lnTo>
                  <a:pt x="4046814" y="3112437"/>
                </a:lnTo>
                <a:lnTo>
                  <a:pt x="0" y="3112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1028700"/>
            <a:ext cx="1650064" cy="1087958"/>
          </a:xfrm>
          <a:custGeom>
            <a:avLst/>
            <a:gdLst/>
            <a:ahLst/>
            <a:cxnLst/>
            <a:rect l="l" t="t" r="r" b="b"/>
            <a:pathLst>
              <a:path w="1650064" h="1087958">
                <a:moveTo>
                  <a:pt x="0" y="0"/>
                </a:moveTo>
                <a:lnTo>
                  <a:pt x="1650064" y="0"/>
                </a:lnTo>
                <a:lnTo>
                  <a:pt x="1650064" y="1087958"/>
                </a:lnTo>
                <a:lnTo>
                  <a:pt x="0" y="1087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169" b="-53423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11249" y="3400537"/>
            <a:ext cx="4665501" cy="3485925"/>
          </a:xfrm>
          <a:custGeom>
            <a:avLst/>
            <a:gdLst/>
            <a:ahLst/>
            <a:cxnLst/>
            <a:rect l="l" t="t" r="r" b="b"/>
            <a:pathLst>
              <a:path w="4665501" h="3485925">
                <a:moveTo>
                  <a:pt x="0" y="0"/>
                </a:moveTo>
                <a:lnTo>
                  <a:pt x="4665502" y="0"/>
                </a:lnTo>
                <a:lnTo>
                  <a:pt x="4665502" y="3485926"/>
                </a:lnTo>
                <a:lnTo>
                  <a:pt x="0" y="348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035" b="-3538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473</Words>
  <Application>Microsoft Office PowerPoint</Application>
  <PresentationFormat>Custom</PresentationFormat>
  <Paragraphs>154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Helvetica World</vt:lpstr>
      <vt:lpstr>Poppins Bold</vt:lpstr>
      <vt:lpstr>Calibri</vt:lpstr>
      <vt:lpstr>Poppins</vt:lpstr>
      <vt:lpstr>Knockout Featherweight Bold</vt:lpstr>
      <vt:lpstr>Arial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Engage Campus Connect Overview</dc:title>
  <dc:creator>RAHUL SINGHANIA</dc:creator>
  <cp:lastModifiedBy>Rahul Singhania</cp:lastModifiedBy>
  <cp:revision>3</cp:revision>
  <dcterms:created xsi:type="dcterms:W3CDTF">2006-08-16T00:00:00Z</dcterms:created>
  <dcterms:modified xsi:type="dcterms:W3CDTF">2026-04-23T11:40:36Z</dcterms:modified>
  <dc:identifier>DAHHfMqBULU</dc:identifier>
</cp:coreProperties>
</file>